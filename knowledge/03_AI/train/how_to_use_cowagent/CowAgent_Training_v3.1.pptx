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🐄 Cow Agent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知识库系统培训手册 · v3.1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从单文件到知识体系的工程化实践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4114800" cy="2743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内容体系化 → 深度加工 → 迭代优化 → 工程化落地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914400"/>
            <a:ext cx="2377440" cy="640080"/>
          </a:xfrm>
          <a:prstGeom prst="rect">
            <a:avLst/>
          </a:prstGeom>
          <a:solidFill>
            <a:srgbClr val="2E86AB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9326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8F0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1,982+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09360" y="1261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知识文件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377440" cy="640080"/>
          </a:xfrm>
          <a:prstGeom prst="rect">
            <a:avLst/>
          </a:prstGeom>
          <a:solidFill>
            <a:srgbClr val="2E86AB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755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8F0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09360" y="2084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560320"/>
            <a:ext cx="2377440" cy="640080"/>
          </a:xfrm>
          <a:prstGeom prst="rect">
            <a:avLst/>
          </a:prstGeom>
          <a:solidFill>
            <a:srgbClr val="2E86AB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578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8F0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2907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脚本工具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383280"/>
            <a:ext cx="2377440" cy="640080"/>
          </a:xfrm>
          <a:prstGeom prst="rect">
            <a:avLst/>
          </a:prstGeom>
          <a:solidFill>
            <a:srgbClr val="2E86AB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4015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8F0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09360" y="3730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六大模块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v3.1 · 2026-07-23 · 基于 §18 知识库建设方法论重构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📑 六大模块全景导航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§18 知识库建设方法论的培训重构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286000" cy="2743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" cy="155448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11480" cy="411480"/>
          </a:xfrm>
          <a:prstGeom prst="oval">
            <a:avLst/>
          </a:prstGeom>
          <a:solidFill>
            <a:srgbClr val="0F3B5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核心定位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体系化与深度加工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28016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280160"/>
            <a:ext cx="54864" cy="1554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0" y="1463040"/>
            <a:ext cx="411480" cy="41148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外部导入 &amp; 检索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1480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关键字检索 + RAG via MCP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28016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280160"/>
            <a:ext cx="54864" cy="15544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1463040"/>
            <a:ext cx="411480" cy="411480"/>
          </a:xfrm>
          <a:prstGeom prst="oval">
            <a:avLst/>
          </a:prstGeom>
          <a:solidFill>
            <a:srgbClr val="F18F01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单文件操作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类型 · 方法 · 质量保障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108960"/>
            <a:ext cx="54864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3291840"/>
            <a:ext cx="411480" cy="41148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系统文件操作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3444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一致性 · 目录匹配 · 全局质量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37560" y="310896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37560" y="3108960"/>
            <a:ext cx="54864" cy="1554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2" name="Shape 30"/>
          <p:cNvSpPr/>
          <p:nvPr/>
        </p:nvSpPr>
        <p:spPr>
          <a:xfrm>
            <a:off x="3566160" y="3291840"/>
            <a:ext cx="411480" cy="411480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356616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11480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团队应用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11480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个人→Git→组织→工程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310896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3108960"/>
            <a:ext cx="54864" cy="1554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8" name="Shape 36"/>
          <p:cNvSpPr/>
          <p:nvPr/>
        </p:nvSpPr>
        <p:spPr>
          <a:xfrm>
            <a:off x="6446520" y="3291840"/>
            <a:ext cx="411480" cy="41148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9516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配套工具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9516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· Memory · Scripts · Index/Log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· 核心定位：体系化与深度加工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利用知识库系统进行内容体系化与深度加工，并在基础上迭代优化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286000" cy="2743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核心认知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3B5E"/>
                </a:solidFill>
              </a:rPr>
              <a:t>知识库 ≠ 工具评测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Notion/Obsidian 只是载体，工具适配生产力而非人迁就工具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3B5E"/>
                </a:solidFill>
              </a:rPr>
              <a:t>知识沉淀 ≠ 资料批量导入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未经筛选、加工、结构化的原始素材属于无效信息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3B5E"/>
                </a:solidFill>
              </a:rPr>
              <a:t>体系化 = 命名规范 + 目录结构 + 元数据 + 知识关系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四个基础问题解决后，知识库才从'堆放'变为'体系'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迭代优化 = 创建 → 审查 → 修正 → 再审查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一次不是终点，持续打磨是质量的生命线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不可颠倒的演进路径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0" y="1783080"/>
            <a:ext cx="640080" cy="50292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7830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0644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高质量单文件生产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49240" y="2286000"/>
            <a:ext cx="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029200" y="2468880"/>
            <a:ext cx="640080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468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0644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内容系统化治理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49240" y="2971800"/>
            <a:ext cx="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029200" y="3154680"/>
            <a:ext cx="640080" cy="50292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154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06440" y="3154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组织级落地协作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49240" y="3657600"/>
            <a:ext cx="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029200" y="3840480"/>
            <a:ext cx="6400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840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0644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知识驱动的业务产出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4160520"/>
            <a:ext cx="3474720" cy="320040"/>
          </a:xfrm>
          <a:prstGeom prst="rect">
            <a:avLst/>
          </a:prstGeom>
          <a:solidFill>
            <a:srgbClr val="F18F01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4160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路径不可跳跃：先做对单文件，再做体系，再做组织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· 迭代优化闭环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 → 审查 → 修正 → 再审查 — 持续打磨的工程化迭代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286000" cy="2743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371600"/>
            <a:ext cx="822960" cy="822960"/>
          </a:xfrm>
          <a:prstGeom prst="oval">
            <a:avLst/>
          </a:prstGeom>
          <a:solidFill>
            <a:srgbClr val="F18F0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4231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生成初稿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快速搭建框架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1783080"/>
            <a:ext cx="7772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371600"/>
            <a:ext cx="822960" cy="822960"/>
          </a:xfrm>
          <a:prstGeom prst="oval">
            <a:avLst/>
          </a:prstGeom>
          <a:solidFill>
            <a:srgbClr val="0F3B5E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审查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80360" y="237744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71800" y="24231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自检 + 深度审查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逻辑谬误排查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51960" y="1783080"/>
            <a:ext cx="7772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3520" y="1371600"/>
            <a:ext cx="822960" cy="82296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修正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237744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20640" y="24231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调整结构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补充数据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1783080"/>
            <a:ext cx="7772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52360" y="1371600"/>
            <a:ext cx="822960" cy="82296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45236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再审查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78040" y="237744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69480" y="24231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验证修正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达标交付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三层质量审查栈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3840480"/>
            <a:ext cx="54864" cy="22860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自动审查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468880" y="38404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light-self-review — 五层管道×10类失效，常驻后台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4160520"/>
            <a:ext cx="54864" cy="2286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深度审查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468880" y="41605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doc-reviewer — 逻辑谬误/结构/引用，13条清单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4480560"/>
            <a:ext cx="54864" cy="22860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4480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深度补齐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468880" y="44805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depth-completer — 框架→原理级深潜，避免名词堆叠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· 外部导入通道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多源导入 + 自动归档 — 无需询问"是否要存"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286000" cy="2743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2697480" cy="22860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2697480" cy="54864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/ Web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web-archive Skill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自动抓取→结构化提取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→归档knowledge/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→更新index+log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697480" cy="22860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80160"/>
            <a:ext cx="269748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508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豆包对话分享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19202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doubao-share Skill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API提取完整对话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→提炼关键洞察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→归档+交叉链接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697480" cy="22860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280160"/>
            <a:ext cx="2697480" cy="54864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508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本地文件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19202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markdown-converter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Word/PDF/PPTX/Excel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→统一转MD格式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→自动分类归档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自动归档流水线（全程 &lt; 2 分钟 · 零人工干预）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1325880" cy="36576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14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检测触发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65960" y="429768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4560" y="4114800"/>
            <a:ext cx="1325880" cy="36576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24" name="Text 22"/>
          <p:cNvSpPr/>
          <p:nvPr/>
        </p:nvSpPr>
        <p:spPr>
          <a:xfrm>
            <a:off x="2194560" y="4114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抓取提取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20440" y="429768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4114800"/>
            <a:ext cx="1325880" cy="36576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27" name="Text 25"/>
          <p:cNvSpPr/>
          <p:nvPr/>
        </p:nvSpPr>
        <p:spPr>
          <a:xfrm>
            <a:off x="3749040" y="4114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判断分类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429768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4114800"/>
            <a:ext cx="1325880" cy="36576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0" y="4114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归档写入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29400" y="429768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0" y="4114800"/>
            <a:ext cx="1325880" cy="36576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4114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蒸馏补充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全程 &lt; 2min · 零人工干预 · 不询问"是否要存"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· 检索体系：关键词 + RAG via MCP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三层检索互补，RAG 集成通过 MCP 协议获取知识库内容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286000" cy="2743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关键词检索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</a:rPr>
              <a:t>精确可控，低延迟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精准查找已知内容，文件名+标题+关键字匹配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</a:rPr>
              <a:t>memory_search + grep 组合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语义向量检索兜底，全文搜索补充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RAG 集成 — MCP 协议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</a:rPr>
              <a:t>MCP 协议连接知识库与 LLM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知识库作为 MCP Server 提供检索能力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</a:rPr>
              <a:t>LLM 调用 MCP Tool → 检索知识库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获取上下文片段 → 增强回答准确性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知识检索能力演进路线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783080" cy="502920"/>
          </a:xfrm>
          <a:prstGeom prst="rect">
            <a:avLst/>
          </a:prstGeom>
          <a:solidFill>
            <a:srgbClr val="0F3B5E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60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关键词检索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3891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精确·低延迟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23160" y="4407408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51760" y="4160520"/>
            <a:ext cx="1783080" cy="502920"/>
          </a:xfrm>
          <a:prstGeom prst="rect">
            <a:avLst/>
          </a:prstGeom>
          <a:solidFill>
            <a:srgbClr val="2E86AB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651760" y="4160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语义向量检索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51760" y="43891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模糊搜索·语义理解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34840" y="4407408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4160520"/>
            <a:ext cx="1783080" cy="502920"/>
          </a:xfrm>
          <a:prstGeom prst="rect">
            <a:avLst/>
          </a:prstGeom>
          <a:solidFill>
            <a:srgbClr val="F18F01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4160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知识图谱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43891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实体关系·关联发现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46520" y="4407408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4160520"/>
            <a:ext cx="1783080" cy="502920"/>
          </a:xfrm>
          <a:prstGeom prst="rect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4160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RAG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43891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协议化·可组合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· 单文件操作类型与方法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类文件格式全覆盖 × 40+ Skills 映射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286000" cy="27432"/>
          </a:xfrm>
          <a:prstGeom prst="rect">
            <a:avLst/>
          </a:prstGeom>
          <a:solidFill>
            <a:srgbClr val="2E86AB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40233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文件类型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操作方式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映射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Markdown .md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创建/编辑/重写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knowledge-doc-writer, doc-reviewer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.docx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读取/创建/编辑/转换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docx skill, markdown-converter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 .pptx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从零创建/模板修改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light-slides, pptx skill, arch-presentation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.xlsx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创建/编辑/公式/格式化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xlsx skill, data-query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提取/合并/拆分/Ocr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skill, markdown-converter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图片/音频/视频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OCR识别/转文字/分析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vision, markitdown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代码/JSON/YAML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解析/审查/格式化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light-backend-coding, code-review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种标准操作场景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4206240"/>
            <a:ext cx="1417320" cy="32004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206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技术归档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240280" y="4206240"/>
            <a:ext cx="1417320" cy="3200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9"/>
          <p:cNvSpPr/>
          <p:nvPr/>
        </p:nvSpPr>
        <p:spPr>
          <a:xfrm>
            <a:off x="2240280" y="4206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深度分析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840480" y="4206240"/>
            <a:ext cx="1417320" cy="32004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4206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文献调研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40680" y="4206240"/>
            <a:ext cx="1417320" cy="3200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3"/>
          <p:cNvSpPr/>
          <p:nvPr/>
        </p:nvSpPr>
        <p:spPr>
          <a:xfrm>
            <a:off x="5440680" y="4206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健康检查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040880" y="4206240"/>
            <a:ext cx="1417320" cy="32004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18" name="Text 15"/>
          <p:cNvSpPr/>
          <p:nvPr/>
        </p:nvSpPr>
        <p:spPr>
          <a:xfrm>
            <a:off x="7040880" y="4206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目录迁移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· 单文件质量保障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标准生产流水线 + 四要素 + 人工干预边界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286000" cy="2743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标准生产流水线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1280160" cy="4114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91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框架搭建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20240" y="1901952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1691640"/>
            <a:ext cx="1280160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1691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素材填充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0" y="1901952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1691640"/>
            <a:ext cx="1280160" cy="41148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1691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迭代优化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1901952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0" y="1691640"/>
            <a:ext cx="12801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1691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人工增删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1901952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1691640"/>
            <a:ext cx="1280160" cy="41148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691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最终校验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2194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借助模型快速展开 → 关联素材库补充细节 → 多轮修正深度分析 → 植入经验业务判断 → 质量审核格式规范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单文件四要素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3200400"/>
            <a:ext cx="36576" cy="201168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2004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提示词工程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94560" y="32004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标准化指令驱动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3474720"/>
            <a:ext cx="36576" cy="20116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474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模型选型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94560" y="3474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按场景匹配模型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749040"/>
            <a:ext cx="36576" cy="201168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3749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背景素材库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94560" y="3749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个人素材池支撑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" y="4023360"/>
            <a:ext cx="36576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4023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人工干预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94560" y="4023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业务判断+数据校验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8346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3776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人工干预边界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937760" y="32004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▸ 业务判断：特定上下文决策需人的经验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▸ 数据校验：关键数据必须与原始来源交叉验证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▸ 风格调优：语感与表达需要人最终确认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8F01"/>
                </a:solidFill>
              </a:rPr>
              <a:t>▸ 质量门禁：最终审核由人完成，AI不可签名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· 系统文件操作 — 全局一致性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跨文件术语一致 · 风格统一 · 逻辑线索持续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286000" cy="2743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2697480" cy="21031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2697480" cy="54864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术语一致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36576" cy="274320"/>
          </a:xfrm>
          <a:prstGeom prst="rect">
            <a:avLst/>
          </a:prstGeom>
          <a:solidFill>
            <a:srgbClr val="0F3B5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28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同一概念在不同文档中名称统一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36576" cy="274320"/>
          </a:xfrm>
          <a:prstGeom prst="rect">
            <a:avLst/>
          </a:prstGeom>
          <a:solidFill>
            <a:srgbClr val="0F3B5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240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指标名称不随章节变化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36576" cy="274320"/>
          </a:xfrm>
          <a:prstGeom prst="rect">
            <a:avLst/>
          </a:prstGeom>
          <a:solidFill>
            <a:srgbClr val="0F3B5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文件名含主题slug保持同步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1280160"/>
            <a:ext cx="2697480" cy="21031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280160"/>
            <a:ext cx="269748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视觉一致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20440" y="1828800"/>
            <a:ext cx="36576" cy="274320"/>
          </a:xfrm>
          <a:prstGeom prst="rect">
            <a:avLst/>
          </a:prstGeom>
          <a:solidFill>
            <a:srgbClr val="2E86AB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1828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图表配色+字体+线条风格统一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20440" y="2240280"/>
            <a:ext cx="36576" cy="274320"/>
          </a:xfrm>
          <a:prstGeom prst="rect">
            <a:avLst/>
          </a:prstGeom>
          <a:solidFill>
            <a:srgbClr val="2E86AB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2240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文档模板格式一致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20440" y="2651760"/>
            <a:ext cx="36576" cy="274320"/>
          </a:xfrm>
          <a:prstGeom prst="rect">
            <a:avLst/>
          </a:prstGeom>
          <a:solidFill>
            <a:srgbClr val="2E86AB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TOC/交叉链接/changelog规范统一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1280160"/>
            <a:ext cx="2697480" cy="21031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280160"/>
            <a:ext cx="2697480" cy="54864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逻辑一致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0" y="1828800"/>
            <a:ext cx="36576" cy="274320"/>
          </a:xfrm>
          <a:prstGeom prst="rect">
            <a:avLst/>
          </a:prstGeom>
          <a:solidFill>
            <a:srgbClr val="F18F01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1828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创新点表述在全文保持一致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2240280"/>
            <a:ext cx="36576" cy="274320"/>
          </a:xfrm>
          <a:prstGeom prst="rect">
            <a:avLst/>
          </a:prstGeom>
          <a:solidFill>
            <a:srgbClr val="F18F01">
              <a:alpha val="4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2240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论文与PPT逻辑线索不矛盾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2651760"/>
            <a:ext cx="36576" cy="274320"/>
          </a:xfrm>
          <a:prstGeom prst="rect">
            <a:avLst/>
          </a:prstGeom>
          <a:solidFill>
            <a:srgbClr val="F18F01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软著功能描述与系统实现一致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一致性维护机制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3931920"/>
            <a:ext cx="2011680" cy="22860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931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light-consistency（常驻）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834640" y="39319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全局一致性自动检查，跨材料术语统一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" y="4224528"/>
            <a:ext cx="2011680" cy="22860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224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log-reformatter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834640" y="422452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log.md 格式标准化，日期排序，去重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" y="4517136"/>
            <a:ext cx="2011680" cy="22860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45171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知识图谱匹配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34640" y="451713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自动检测同名概念不一致使用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· 文件-目录匹配 &amp; 全局质量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命名规范 → 目录设计 → 元数据 → 关系网络 → 质量提升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286000" cy="2743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文件-目录匹配规则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</a:rPr>
              <a:t>命名规范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YYYY-MM-DD-&lt;slug&gt;.md — 日期+领域+主题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</a:rPr>
              <a:t>目录分类原则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按主题领域（稳定）或按项目（任务驱动）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目录嵌套 ≤ 4 层，超过需审视分类合理性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</a:rPr>
              <a:t>元数据四维度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标签 + 属性 + 分类 + 状态 — AI推荐+人工确认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</a:rPr>
              <a:t>知识关系网络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双向链接 + 交叉引用 → 消除孤岛文档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全局质量提升体系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1691640"/>
            <a:ext cx="411480" cy="36576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6916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40680" y="1691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自动扫描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18745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link-check + format-check + health-check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2240280"/>
            <a:ext cx="411480" cy="3657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2402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40680" y="2240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批量修复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40680" y="24231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fix-toc + fix-table + log-reformatter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37760" y="2788920"/>
            <a:ext cx="411480" cy="36576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788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40680" y="2788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深度审计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40680" y="29718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doc-reviewer + depth-completer + 交叉验证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37760" y="3337560"/>
            <a:ext cx="4114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337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40680" y="3337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全局治理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35204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index-rebuilder + directory-optimizer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· 团队协作流水线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个人产出 → GitHub 提交 → 组织约束 → 工程化落地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286000" cy="2743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1965960" cy="16459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1965960" cy="54864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个人产出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协作完成内容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自检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格式规范达标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210312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965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06040" y="1280160"/>
            <a:ext cx="1965960" cy="16459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280160"/>
            <a:ext cx="1965960" cy="54864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1417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提交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97480" y="17830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规范提交信息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发起审查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10312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965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280160"/>
            <a:ext cx="1965960" cy="16459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280160"/>
            <a:ext cx="196596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417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代码审查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17830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link-check CI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format-check CI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内容审核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0840" y="210312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1965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03720" y="1280160"/>
            <a:ext cx="1965960" cy="16459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03720" y="128016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1417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合并发布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95160" y="17830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merge→main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自动同步部署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通知团队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8229600" cy="137160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Git 协作规范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3474720"/>
            <a:ext cx="1828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152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纯文本优先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MD/代码/YAML，避免二进制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51760" y="3474720"/>
            <a:ext cx="1828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74320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 分支策略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main(稳定) ← dev(开发) ← feature/*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474720"/>
            <a:ext cx="1828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5488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提交规范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feat/fix/docs/refactor/test: 描述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75120" y="3474720"/>
            <a:ext cx="1828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76656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 PR 审查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6656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AI完成→提交→PR→审查→merge→自动CI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· 组织级约束 &amp; 工程化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个人→组织的复杂度跃迁，约束 + 素材库 + 工程化落地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286000" cy="2743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 vs 组织复杂度对比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3657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个人场景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组织场景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决策链条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一人决定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需团队共识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规范执行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自我约束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多人遵守难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权限控制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无需求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多层次权限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协作冲突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无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编辑冲突需解决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质量管控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自我把关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需评审机制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754880" y="128016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3776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从素材到工程的转化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37760" y="16916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1. 个人素材池 → 结构化知识库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 AI辅助提炼，按主题领域分类归档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2. 组织共享素材库 → SSOT规范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 目录治理·命名规范·元数据标准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</a:rPr>
              <a:t>3. SSOT→Skills能力封装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 将最佳实践封装为可复用的Skills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18F01"/>
                </a:solidFill>
              </a:rPr>
              <a:t>4. Skills → 工程化流水线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 标准化工作流，自动化质量门禁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组织级约束体系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114800"/>
            <a:ext cx="1371600" cy="1828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114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安全红线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194560" y="411480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永不rm · 不泄露密钥 · 不改头部标记文件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" y="4343400"/>
            <a:ext cx="1371600" cy="1828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3434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质量标线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194560" y="434340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断言有出处 · 数据可验证 · 格式规范 · 来源可追溯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0080" y="4572000"/>
            <a:ext cx="1371600" cy="1828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572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工程约束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194560" y="457200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.agignore · 依赖审计 · 复用检测 · 术语一致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· 配套工具集 — Skills 系统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个 Skills 自动匹配，覆盖写作/分析/编码/设计/工具/运维六大类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286000" cy="2743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2697480" cy="10515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105156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写作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1234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3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11个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paper-drafting / patent / thesis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2697480" cy="10515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188720"/>
            <a:ext cx="54864" cy="10515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分析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1234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14个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0440" y="1600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industry-insight / competitor / deep-tech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697480" cy="10515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188720"/>
            <a:ext cx="54864" cy="105156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编码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0" y="1234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18F0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9个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1600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backend-coding / system-design / frontend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423160"/>
            <a:ext cx="2697480" cy="10515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42316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设计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0" y="2468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8个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figure-drawing / slides / docx / pptx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37560" y="2423160"/>
            <a:ext cx="2697480" cy="10515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37560" y="2423160"/>
            <a:ext cx="54864" cy="10515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工具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66360" y="2468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22个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520440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web-archive / markdown-converter / xlsx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2423160"/>
            <a:ext cx="2697480" cy="10515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2423160"/>
            <a:ext cx="54864" cy="10515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运维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46720" y="2468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16个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400800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/ index-rebuilder / log-format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008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Skills 自动匹配流程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" y="4114800"/>
            <a:ext cx="1417320" cy="32004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114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扫描技能列表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057400" y="4279392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40280" y="4114800"/>
            <a:ext cx="1417320" cy="3200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2" name="Text 40"/>
          <p:cNvSpPr/>
          <p:nvPr/>
        </p:nvSpPr>
        <p:spPr>
          <a:xfrm>
            <a:off x="2240280" y="4114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意图匹配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0" y="4279392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0" y="4114800"/>
            <a:ext cx="1417320" cy="32004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45" name="Text 43"/>
          <p:cNvSpPr/>
          <p:nvPr/>
        </p:nvSpPr>
        <p:spPr>
          <a:xfrm>
            <a:off x="3840480" y="4114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优先级裁决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257800" y="4279392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40680" y="4114800"/>
            <a:ext cx="1417320" cy="3200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8" name="Text 46"/>
          <p:cNvSpPr/>
          <p:nvPr/>
        </p:nvSpPr>
        <p:spPr>
          <a:xfrm>
            <a:off x="5440680" y="4114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读取 SKILL.md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58000" y="4279392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40880" y="4114800"/>
            <a:ext cx="1417320" cy="32004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51" name="Text 49"/>
          <p:cNvSpPr/>
          <p:nvPr/>
        </p:nvSpPr>
        <p:spPr>
          <a:xfrm>
            <a:off x="7040880" y="4114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执行输出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· 记忆系统 + 脚本 + Index/Log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三层记忆金字塔 · 154 个脚本六类操作 · 分布式索引体系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286000" cy="2743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记忆系统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3B5E"/>
                </a:solidFill>
              </a:rPr>
              <a:t>L3 MEMORY.md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月更：原则/洞察/趋势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3B5E"/>
                </a:solidFill>
              </a:rPr>
              <a:t>L2 每日记忆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YYYY-MM-DD.md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3B5E"/>
                </a:solidFill>
              </a:rPr>
              <a:t>L1 对话上下文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当前会话自动管理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</a:rPr>
              <a:t>按变化频率匹配位置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高频+弱重要→每日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低频+重要→MEMORY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脚本六类操作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554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检查类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link-check, format-check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1901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修复类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1901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fix-toc, fix-table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2249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转换类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0" y="22494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md-to-pdf, image-resize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2596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报告类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2596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weekly-summary, health-check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2944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部署类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0" y="2944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deploy-site, git-sync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 维护类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cleanup, dedup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118872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0936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Index + Log 体系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155448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3B5E"/>
                </a:solidFill>
              </a:rPr>
              <a:t>分布式目录架构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每个模块独立维护 index + log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避免单一中心化图谱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</a:rPr>
              <a:t>index.md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文件索引 + 核心内容摘要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顶层 index 做模块导航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</a:rPr>
              <a:t>log.md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changelog 格式 · 倒序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日期+版本+变更+备注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3B5E"/>
                </a:solidFill>
              </a:rPr>
              <a:t>交叉链接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知识图谱 vs 孤岛文档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落地路线图：快速见效 → 全栈铺开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分阶段引入，每阶段都有明确收益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286000" cy="2743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88720"/>
            <a:ext cx="8595360" cy="11887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73152" cy="118872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Phase 1：快速见效（2-3周）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自动归档 → 健康检查 → 单文件质量门禁 → 标准命名 → 目录规范落地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2-3周 · 节省: ~35% 效率提升 · 等效 6.5 人 (10人团队)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560320"/>
            <a:ext cx="8595360" cy="11887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560320"/>
            <a:ext cx="73152" cy="1188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Phase 2：AI 增强（2-3周）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MCP 检索 → 自动交叉链接 → 知识图谱构建 → 一致性检查 → 周报自动化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2-3周 · 节省: ~50% 效率提升 · 等效 5 人 · 需求→用例周期 3.5→2天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931920"/>
            <a:ext cx="8595360" cy="10972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93192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50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Phase 3：高级 AI + 工程化（3-4周）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编排流水线 · 组织级约束体系 · Skills 封装 · 工程化自动部署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3-4周 · 节省: ~58% 效率提升 · 等效 4.2 人 · 月省 ¥464K+ · ROI 1,237%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知识库全景 · 关键数字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1,982 个文件 · 7 大模块 · 持续生长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286000" cy="2743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3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1,982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总文件数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188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0604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188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8F0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5488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脚本工具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118872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188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777万+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90372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总字数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知识模块分布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2651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调研跟踪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94560" y="2697480"/>
            <a:ext cx="2286000" cy="164592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2651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 文件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971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研发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4560" y="3017520"/>
            <a:ext cx="1943100" cy="16459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4" name="Text 22"/>
          <p:cNvSpPr/>
          <p:nvPr/>
        </p:nvSpPr>
        <p:spPr>
          <a:xfrm>
            <a:off x="4229100" y="2971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669 文件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291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工具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94560" y="3337560"/>
            <a:ext cx="342900" cy="16459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27" name="Text 25"/>
          <p:cNvSpPr/>
          <p:nvPr/>
        </p:nvSpPr>
        <p:spPr>
          <a:xfrm>
            <a:off x="2628900" y="3291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文件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611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行业调研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94560" y="3657600"/>
            <a:ext cx="285750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2571750" y="3611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文件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931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AI技术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194560" y="3977640"/>
            <a:ext cx="171450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2457450" y="3931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文件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251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194560" y="4297680"/>
            <a:ext cx="285750" cy="16459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6" name="Text 34"/>
          <p:cNvSpPr/>
          <p:nvPr/>
        </p:nvSpPr>
        <p:spPr>
          <a:xfrm>
            <a:off x="2571750" y="4251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文件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228600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2920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工具生态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029200" y="2651760"/>
            <a:ext cx="36576" cy="164592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0" y="26517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写作类 Skills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23760" y="26517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个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0" y="2880360"/>
            <a:ext cx="36576" cy="16459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3" name="Text 41"/>
          <p:cNvSpPr/>
          <p:nvPr/>
        </p:nvSpPr>
        <p:spPr>
          <a:xfrm>
            <a:off x="5212080" y="28803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分析类 Skills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23760" y="28803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个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0" y="3108960"/>
            <a:ext cx="36576" cy="16459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6" name="Text 44"/>
          <p:cNvSpPr/>
          <p:nvPr/>
        </p:nvSpPr>
        <p:spPr>
          <a:xfrm>
            <a:off x="5212080" y="31089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编码类 Skills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223760" y="31089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个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029200" y="3337560"/>
            <a:ext cx="36576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9" name="Text 47"/>
          <p:cNvSpPr/>
          <p:nvPr/>
        </p:nvSpPr>
        <p:spPr>
          <a:xfrm>
            <a:off x="5212080" y="3337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设计类 Skills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23760" y="3337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个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029200" y="3566160"/>
            <a:ext cx="36576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2" name="Text 50"/>
          <p:cNvSpPr/>
          <p:nvPr/>
        </p:nvSpPr>
        <p:spPr>
          <a:xfrm>
            <a:off x="5212080" y="35661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工具+运维 Skills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23760" y="35661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个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029200" y="3794760"/>
            <a:ext cx="36576" cy="16459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5" name="Text 53"/>
          <p:cNvSpPr/>
          <p:nvPr/>
        </p:nvSpPr>
        <p:spPr>
          <a:xfrm>
            <a:off x="5212080" y="37947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检查脚本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223760" y="37947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个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029200" y="4023360"/>
            <a:ext cx="36576" cy="16459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8" name="Text 56"/>
          <p:cNvSpPr/>
          <p:nvPr/>
        </p:nvSpPr>
        <p:spPr>
          <a:xfrm>
            <a:off x="5212080" y="40233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修复脚本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223760" y="40233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个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solidFill>
            <a:srgbClr val="0F3B5E">
              <a:alpha val="1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生长中 · 2026-07-23 · v3.1 · 🐄 Cow Agent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3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🛡️ 质量铁律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每条断言有出处，每个数据可验证 — 不是理想，是铁律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97480" cy="2103120"/>
          </a:xfrm>
          <a:prstGeom prst="rect">
            <a:avLst/>
          </a:prstGeom>
          <a:solidFill>
            <a:srgbClr val="2E86AB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269748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多源三角验证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关键数据 ≥ 2 个独立源交叉验证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来源优先级：官方 &gt; 标准组织 &gt; 推导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示例：H100 NVLink 900GB/s → 官方规格 ↔ NVLink 4.0标准推导 ↔ 实际测试报告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697480" cy="2103120"/>
          </a:xfrm>
          <a:prstGeom prst="rect">
            <a:avLst/>
          </a:prstGeom>
          <a:solidFill>
            <a:srgbClr val="2E86AB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463040"/>
            <a:ext cx="2697480" cy="54864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600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标注缺口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不存在"编一个数"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宁可留白不可造假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2743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说明尝试了哪些源，给出替代估算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463040"/>
            <a:ext cx="2697480" cy="2103120"/>
          </a:xfrm>
          <a:prstGeom prst="rect">
            <a:avLst/>
          </a:prstGeom>
          <a:solidFill>
            <a:srgbClr val="2E86AB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463040"/>
            <a:ext cx="269748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600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格式规范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数值 + 单位 + 基线 + 条件，缺一不可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例：延迟 10μs (PCIe Gen5, 单跳, 无竞争)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743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文档规范：TOC + 交叉链接 + changelog (倒序)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2E86AB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每次交付前自检清单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1148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断言有出处？来源可追溯？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40280" y="41148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数据 = 数值 + 单位 + 基线 + 条件？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0" y="41148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TOC + 交叉链接 + changelog？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40680" y="41148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框架堆名词不深入原理 → 不合格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40880" y="41148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还能再迭代一轮？哪里还不够锋利？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总结 · 7 条 Takeaways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记住这 7 条，就能用好 Cow Agent 知识库系统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286000" cy="2743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105156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25880"/>
            <a:ext cx="365760" cy="365760"/>
          </a:xfrm>
          <a:prstGeom prst="oval">
            <a:avLst/>
          </a:prstGeom>
          <a:solidFill>
            <a:srgbClr val="0F3B5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体系化而非工具化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600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知识库的本质是梳理与体系化，不是工具评测。先做对单文件，再做体系，再做组织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88720"/>
            <a:ext cx="54864" cy="10515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1325880"/>
            <a:ext cx="365760" cy="36576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4068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外部导入 → 即时归档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40680" y="1600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URL/豆包/文件多源导入，全程 &lt; 2min · 零人工 · 不问"是否要存"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23160"/>
            <a:ext cx="54864" cy="105156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560320"/>
            <a:ext cx="365760" cy="365760"/>
          </a:xfrm>
          <a:prstGeom prst="oval">
            <a:avLst/>
          </a:prstGeom>
          <a:solidFill>
            <a:srgbClr val="F18F0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单文件质量门禁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提示词+模型+素材+人工四要素，标准生产流水线，三层审查栈兜底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42316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42316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Shape 24"/>
          <p:cNvSpPr/>
          <p:nvPr/>
        </p:nvSpPr>
        <p:spPr>
          <a:xfrm>
            <a:off x="4937760" y="2560320"/>
            <a:ext cx="365760" cy="36576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系统文件全局一致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40680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术语+视觉+逻辑三维一致，命名规范+目录匹配+元数据+关系网络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657600"/>
            <a:ext cx="54864" cy="10515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" y="3794760"/>
            <a:ext cx="365760" cy="365760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300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团队协作工程化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43000" y="4069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个人→Git→组织约束→Skills封装→工程化流水线，不可跳跃的路径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65760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657600"/>
            <a:ext cx="54864" cy="10515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8" name="Shape 36"/>
          <p:cNvSpPr/>
          <p:nvPr/>
        </p:nvSpPr>
        <p:spPr>
          <a:xfrm>
            <a:off x="4937760" y="3794760"/>
            <a:ext cx="365760" cy="36576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4068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配套工具全栈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40680" y="4069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Skills + 154 Scripts + 三层记忆 + 分布式Index/Log — 全部自动调度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8920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" y="4892040"/>
            <a:ext cx="54864" cy="105156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44" name="Shape 42"/>
          <p:cNvSpPr/>
          <p:nvPr/>
        </p:nvSpPr>
        <p:spPr>
          <a:xfrm>
            <a:off x="640080" y="5029200"/>
            <a:ext cx="365760" cy="365760"/>
          </a:xfrm>
          <a:prstGeom prst="oval">
            <a:avLst/>
          </a:prstGeom>
          <a:solidFill>
            <a:srgbClr val="0F3B5E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43000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数据可验证，质量不妥协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143000" y="5303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多源三角验证 · 标注缺口 · 格式规范 · 框架→原理 · 迭代打磨非一次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86000" y="4572000"/>
            <a:ext cx="4572000" cy="365760"/>
          </a:xfrm>
          <a:prstGeom prst="rect">
            <a:avLst/>
          </a:prstGeom>
          <a:solidFill>
            <a:srgbClr val="0F3B5E"/>
          </a:solidFill>
          <a:ln/>
        </p:spPr>
      </p:sp>
      <p:sp>
        <p:nvSpPr>
          <p:cNvPr id="49" name="Text 47"/>
          <p:cNvSpPr/>
          <p:nvPr/>
        </p:nvSpPr>
        <p:spPr>
          <a:xfrm>
            <a:off x="228600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🐄 Cow Agent · v3.1 · AI搭骨架，人做判断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Cow Agent 知识库系统 v3.1</dc:title>
  <dc:subject>PptxGenJS Presentation</dc:subject>
  <dc:creator>Cow Agent</dc:creator>
  <cp:lastModifiedBy>Cow Agent</cp:lastModifiedBy>
  <cp:revision>1</cp:revision>
  <dcterms:created xsi:type="dcterms:W3CDTF">2026-07-23T01:03:46Z</dcterms:created>
  <dcterms:modified xsi:type="dcterms:W3CDTF">2026-07-23T01:03:46Z</dcterms:modified>
</cp:coreProperties>
</file>