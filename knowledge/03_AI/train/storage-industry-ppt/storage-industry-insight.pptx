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FC3F7"/>
                </a:solidFill>
                <a:latin typeface="Microsoft YaHei"/>
                <a:ea typeface="Microsoft YaHei"/>
              </a:rPr>
              <a:t>STORAGE INDUSTRY INSIGHT · 2026-08-12 · 五看三定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</a:rPr>
              <a:t>存储行业正从「数据仓库」转向「AI 算力的扩展内存」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FC3F7"/>
                </a:solidFill>
                <a:latin typeface="Microsoft YaHei"/>
                <a:ea typeface="Microsoft YaHei"/>
              </a:rPr>
              <a:t>
</a:t>
            </a:r>
            <a:r>
              <a:rPr sz="3000" b="1" i="0">
                <a:solidFill>
                  <a:srgbClr val="4FC3F7"/>
                </a:solidFill>
                <a:latin typeface="Microsoft YaHei"/>
                <a:ea typeface="Microsoft YaHei"/>
              </a:rPr>
              <a:t>G3.5 共享闪存层 + KV Cache 分层 + GPU 直通 I/O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899AA"/>
                </a:solidFill>
                <a:latin typeface="Microsoft YaHei"/>
                <a:ea typeface="Microsoft YaHei"/>
              </a:rPr>
              <a:t>
</a:t>
            </a:r>
            <a:r>
              <a:rPr sz="1700" b="1" i="0">
                <a:solidFill>
                  <a:srgbClr val="4FC3F7"/>
                </a:solidFill>
                <a:latin typeface="Microsoft YaHei"/>
                <a:ea typeface="Microsoft YaHei"/>
              </a:rPr>
              <a:t>——2026-2027 服务器整机（尤其软件栈）研发的最大增量机会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E2F0"/>
                </a:solidFill>
                <a:latin typeface="Microsoft YaHei"/>
                <a:ea typeface="Microsoft YaHei"/>
              </a:rPr>
              <a:t>
</a:t>
            </a:r>
            <a:r>
              <a:rPr sz="1300" b="1" i="0">
                <a:solidFill>
                  <a:srgbClr val="D8E2F0"/>
                </a:solidFill>
                <a:latin typeface="Microsoft YaHei"/>
                <a:ea typeface="Microsoft YaHei"/>
              </a:rPr>
              <a:t>汇报对象</a:t>
            </a:r>
            <a:r>
              <a:rPr sz="1300" b="0" i="0">
                <a:solidFill>
                  <a:srgbClr val="D8E2F0"/>
                </a:solidFill>
                <a:latin typeface="Microsoft YaHei"/>
                <a:ea typeface="Microsoft YaHei"/>
              </a:rPr>
              <a:t>：领导层　|　</a:t>
            </a:r>
            <a:r>
              <a:rPr sz="1300" b="1" i="0">
                <a:solidFill>
                  <a:srgbClr val="D8E2F0"/>
                </a:solidFill>
                <a:latin typeface="Microsoft YaHei"/>
                <a:ea typeface="Microsoft YaHei"/>
              </a:rPr>
              <a:t>用途</a:t>
            </a:r>
            <a:r>
              <a:rPr sz="1300" b="0" i="0">
                <a:solidFill>
                  <a:srgbClr val="D8E2F0"/>
                </a:solidFill>
                <a:latin typeface="Microsoft YaHei"/>
                <a:ea typeface="Microsoft YaHei"/>
              </a:rPr>
              <a:t>：指导服务器整机研发（软件为主）</a:t>
            </a:r>
            <a:r>
              <a:rPr sz="1300" b="0" i="0">
                <a:solidFill>
                  <a:srgbClr val="D8E2F0"/>
                </a:solidFill>
                <a:latin typeface="Microsoft YaHei"/>
                <a:ea typeface="Microsoft YaHei"/>
              </a:rPr>
              <a:t>
</a:t>
            </a:r>
            <a:r>
              <a:rPr sz="1300" b="0" i="0">
                <a:solidFill>
                  <a:srgbClr val="D8E2F0"/>
                </a:solidFill>
                <a:latin typeface="Microsoft YaHei"/>
                <a:ea typeface="Microsoft YaHei"/>
              </a:rPr>
              <a:t>
</a:t>
            </a:r>
            <a:r>
              <a:rPr sz="1300" b="1" i="0">
                <a:solidFill>
                  <a:srgbClr val="D8E2F0"/>
                </a:solidFill>
                <a:latin typeface="Microsoft YaHei"/>
                <a:ea typeface="Microsoft YaHei"/>
              </a:rPr>
              <a:t>方法论</a:t>
            </a:r>
            <a:r>
              <a:rPr sz="1300" b="0" i="0">
                <a:solidFill>
                  <a:srgbClr val="D8E2F0"/>
                </a:solidFill>
                <a:latin typeface="Microsoft YaHei"/>
                <a:ea typeface="Microsoft YaHei"/>
              </a:rPr>
              <a:t>：五看三定（看宏观/市场/竞争/自身/机会 → 定战略/目标/策略）</a:t>
            </a:r>
            <a:r>
              <a:rPr sz="1300" b="0" i="0">
                <a:solidFill>
                  <a:srgbClr val="D8E2F0"/>
                </a:solidFill>
                <a:latin typeface="Microsoft YaHei"/>
                <a:ea typeface="Microsoft YaHei"/>
              </a:rPr>
              <a:t>
</a:t>
            </a:r>
            <a:r>
              <a:rPr sz="1300" b="0" i="0">
                <a:solidFill>
                  <a:srgbClr val="D8E2F0"/>
                </a:solidFill>
                <a:latin typeface="Microsoft YaHei"/>
                <a:ea typeface="Microsoft YaHei"/>
              </a:rPr>
              <a:t>
</a:t>
            </a:r>
            <a:r>
              <a:rPr sz="1300" b="1" i="0">
                <a:solidFill>
                  <a:srgbClr val="D8E2F0"/>
                </a:solidFill>
                <a:latin typeface="Microsoft YaHei"/>
                <a:ea typeface="Microsoft YaHei"/>
              </a:rPr>
              <a:t>数据分级</a:t>
            </a:r>
            <a:r>
              <a:rPr sz="1300" b="0" i="0">
                <a:solidFill>
                  <a:srgbClr val="D8E2F0"/>
                </a:solidFill>
                <a:latin typeface="Microsoft YaHei"/>
                <a:ea typeface="Microsoft YaHei"/>
              </a:rPr>
              <a:t>：✅官方一手 · ⚠️行业共识转引 · 🔶第一性推导 · 🏷厂商声称
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899AA"/>
                </a:solidFill>
                <a:latin typeface="Microsoft YaHei"/>
                <a:ea typeface="Microsoft YaHei"/>
              </a:rPr>
              <a:t>材料来源：</a:t>
            </a:r>
            <a:r>
              <a:rPr sz="1000" b="0" i="0">
                <a:solidFill>
                  <a:srgbClr val="4FC3F7"/>
                </a:solidFill>
                <a:latin typeface="Microsoft YaHei"/>
                <a:ea typeface="Microsoft YaHei"/>
              </a:rPr>
              <a:t>领导汇报版 v1.2</a:t>
            </a:r>
            <a:r>
              <a:rPr sz="1000" b="0" i="0">
                <a:solidFill>
                  <a:srgbClr val="8899AA"/>
                </a:solidFill>
                <a:latin typeface="Microsoft YaHei"/>
                <a:ea typeface="Microsoft YaHei"/>
              </a:rPr>
              <a:t> · </a:t>
            </a:r>
            <a:r>
              <a:rPr sz="1000" b="0" i="0">
                <a:solidFill>
                  <a:srgbClr val="4FC3F7"/>
                </a:solidFill>
                <a:latin typeface="Microsoft YaHei"/>
                <a:ea typeface="Microsoft YaHei"/>
              </a:rPr>
              <a:t>AI 存储洞察报告 v1.5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AGENDA · 五看三定（MECE 拆解）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看宏观 / 行业：存储范式转移——产值拐点、供需周期、四大统一信号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看市场 / 客户：AI 推理存储需求爆发——KV 第一性、三场景三机型、客户分层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看竞争：三条技术路线——NVIDIA CMX / Intel CXL / 中国 ODCC 标准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看自身：整机 + 软件研发能力盘点——</a:t>
            </a:r>
            <a:r>
              <a:rPr sz="1500" b="1" i="0">
                <a:solidFill>
                  <a:srgbClr val="FF5252"/>
                </a:solidFill>
                <a:latin typeface="Microsoft YaHei"/>
                <a:ea typeface="Microsoft YaHei"/>
              </a:rPr>
              <a:t>软件栈 = 最大短板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看机会：五大专题窗口——G3.5 / LPDDR / CXL 软件栈 / KV 分层 / 故障诊断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会议信号整合：GTC × FMS × ODCC × OCP × AI Advanced 五大会收敛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三定：定战略 · 定目标 · 定策略 + 四维影响结论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汇报 15-20 分钟 · 领导看 §0+§7；架构决策者看 §1-§5；研发执行看 §7.3 策略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EXECUTIVE SUMMARY · 30 秒版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存储行业范式转移已确定：软件能力将取代硬件容量成为整机差异化主战场 </a:t>
            </a:r>
            <a:r>
              <a:rPr sz="2100" b="1" i="0">
                <a:solidFill>
                  <a:srgbClr val="FFD74F"/>
                </a:solidFill>
                <a:latin typeface="Microsoft YaHei"/>
                <a:ea typeface="Microsoft YaHei"/>
              </a:rPr>
              <a:t>多源印证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15568"/>
          <a:ext cx="1124712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结论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依据（数据可验证）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存储内存化是确定主线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：闪存从"存数据"变"算力扩展内存"，GPU 直接发起闪存访问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GTC Storage-Next + FMS cuFile 开源（XIO-SIG 四巨头共治）+ ODCC 存算分离强制标准，</a:t>
                      </a:r>
                      <a:r>
                        <a:rPr sz="950" b="0" i="0">
                          <a:solidFill>
                            <a:srgbClr val="69F0AE"/>
                          </a:solidFill>
                          <a:latin typeface="Microsoft YaHei"/>
                          <a:ea typeface="Microsoft YaHei"/>
                        </a:rPr>
                        <a:t>三方独立印证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KV Cache 是存储新语义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：推理 KV 从 HBM 溢出到 DDR/CXL/SSD 分层是必然，</a:t>
                      </a: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512B 小随机读成为 SSD 新瓶颈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KV 公式推导：70B 模型 128K=41.9GB、1M=320GB；Micron 230M 512B IOPS 演示，Gen7 目标 100M IOPS/颗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G3.5 是整机软件研发的抓手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：共享闪存层 = "语义迁移"而非"更多容量"——14 条需求中 P0 五条全是软件栈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知识库 G3.5 需求规格 §1.2（R9/R1/R13/R14/R5）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软件可靠性成为整机卖点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：NCCL 假存活案证明"链路 UP ≠ 可用"，</a:t>
                      </a:r>
                      <a:r>
                        <a:rPr sz="950" b="0" i="0">
                          <a:solidFill>
                            <a:srgbClr val="FF5252"/>
                          </a:solidFill>
                          <a:latin typeface="Microsoft YaHei"/>
                          <a:ea typeface="Microsoft YaHei"/>
                        </a:rPr>
                        <a:t>I/O 层监控/故障诊断是必须补齐的短板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marin#7344 案例：死锁 GPU 100% util + 功耗冻结 + SM 时钟钉死 1950MHz；ODCC NHA 标准 ODCC2505002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中国方案进入全球一线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：应用层领先/基础层追赶并存，是整机差异化可借之力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大普微 512TB E2 半 PB 单盘 + 美团 NHA 标准 + 澜起 CXL，FMS 现场最大容量亮点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洞察报告 v1.5 §0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GTC/FMS/ODCC 三大会独立观测点收敛（置信度⭐⭐⭐⭐⭐）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C3F7"/>
                </a:solidFill>
                <a:latin typeface="Microsoft YaHei"/>
                <a:ea typeface="Microsoft YaHei"/>
              </a:rPr>
              <a:t>PART 01 · 看宏观 / 行业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存储从「周期波动」进入</a:t>
            </a:r>
            <a:r>
              <a:rPr sz="2400" b="1" i="0">
                <a:solidFill>
                  <a:srgbClr val="4FC3F7"/>
                </a:solidFill>
                <a:latin typeface="Microsoft YaHei"/>
                <a:ea typeface="Microsoft YaHei"/>
              </a:rPr>
              <a:t>结构性范式转换</a:t>
            </a: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
</a:t>
            </a: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——AI 消耗模式彻底改写供需曲线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8E2F0"/>
                </a:solidFill>
                <a:latin typeface="Microsoft YaHei"/>
                <a:ea typeface="Microsoft YaHei"/>
              </a:rPr>
              <a:t>本部分回答：产业总量发生了什么拐点？供给端如何改写产品规格？三大会给出什么统一信号？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01 · 看宏观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1.1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2026 存储产值 </a:t>
            </a:r>
            <a:r>
              <a:rPr sz="2100" b="1" i="0">
                <a:solidFill>
                  <a:srgbClr val="4FC3F7"/>
                </a:solidFill>
                <a:latin typeface="Microsoft YaHei"/>
                <a:ea typeface="Microsoft YaHei"/>
              </a:rPr>
              <a:t>$803.9B 首超逻辑芯片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——存储成为半导体第一大品类 </a:t>
            </a:r>
            <a:r>
              <a:rPr sz="2100" b="1" i="0">
                <a:solidFill>
                  <a:srgbClr val="FFD74F"/>
                </a:solidFill>
                <a:latin typeface="Microsoft YaHei"/>
                <a:ea typeface="Microsoft YaHei"/>
              </a:rPr>
              <a:t>超级周期实证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8E2F0"/>
                </a:solidFill>
                <a:latin typeface="Microsoft YaHei"/>
                <a:ea typeface="Microsoft YaHei"/>
              </a:rPr>
              <a:t>这不是普通景气周期，而是 </a:t>
            </a:r>
            <a:r>
              <a:rPr sz="1150" b="1" i="0">
                <a:solidFill>
                  <a:srgbClr val="D8E2F0"/>
                </a:solidFill>
                <a:latin typeface="Microsoft YaHei"/>
                <a:ea typeface="Microsoft YaHei"/>
              </a:rPr>
              <a:t>AI 需求 × 供给约束</a:t>
            </a:r>
            <a:r>
              <a:rPr sz="1150" b="0" i="0">
                <a:solidFill>
                  <a:srgbClr val="D8E2F0"/>
                </a:solidFill>
                <a:latin typeface="Microsoft YaHei"/>
                <a:ea typeface="Microsoft YaHei"/>
              </a:rPr>
              <a:t> 叠加的超级周期：</a:t>
            </a:r>
            <a:r>
              <a:rPr sz="1150" b="0" i="0">
                <a:solidFill>
                  <a:srgbClr val="FF5252"/>
                </a:solidFill>
                <a:latin typeface="Microsoft YaHei"/>
                <a:ea typeface="Microsoft YaHei"/>
              </a:rPr>
              <a:t>BOM 成本结构与供货确定性成为产品定义的第一约束</a:t>
            </a:r>
            <a:r>
              <a:rPr sz="1150" b="0" i="0">
                <a:solidFill>
                  <a:srgbClr val="D8E2F0"/>
                </a:solidFill>
                <a:latin typeface="Microsoft YaHei"/>
                <a:ea typeface="Microsoft YaHei"/>
              </a:rPr>
              <a:t>，容量选型从"最大"转向"最优密度/成本"。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.0" y="1572768"/>
          <a:ext cx="5623557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1874519"/>
                <a:gridCol w="187451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意义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2026 存储产值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$803.9B 首超逻辑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（占半导体 53%）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存储=半导体第一增长极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Sandisk FY26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$20.25B / +175%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超级周期实证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Phison 2Q26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NT$67.9B / +280%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同上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Micron 3Q26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$41.6B / +347%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同上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涨价贡献结构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涨价 2/3 + AI 需求 1/3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已传导消费端（DDR4 连涨/RTX50 +39%）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m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72768"/>
            <a:ext cx="3087044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80760" y="3383280"/>
            <a:ext cx="5623559" cy="-731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899AA"/>
                </a:solidFill>
                <a:latin typeface="Microsoft YaHei"/>
                <a:ea typeface="Microsoft YaHei"/>
              </a:rPr>
              <a:t>🖼 官方配图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：SK hynix 2Q26 营收 KRW 79.32T（+257% YoY）、margin 75-77% 超 TSMC——存储超级周期实证 ——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news.skhynix.com 官方财报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WSTS 半导体预测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（06-09，curl 200）·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SK hynix Q2 官方财报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⚠️转引：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TrendForce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01 · 看宏观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1.2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2026 史上首次「八线同紧」+ 规格改写——</a:t>
            </a:r>
            <a:r>
              <a:rPr sz="2100" b="1" i="0">
                <a:solidFill>
                  <a:srgbClr val="FF5252"/>
                </a:solidFill>
                <a:latin typeface="Microsoft YaHei"/>
                <a:ea typeface="Microsoft YaHei"/>
              </a:rPr>
              <a:t>供给约束正在改写产品路线图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100" b="1" i="0">
                <a:solidFill>
                  <a:srgbClr val="FFD74F"/>
                </a:solidFill>
                <a:latin typeface="Microsoft YaHei"/>
                <a:ea typeface="Microsoft YaHei"/>
              </a:rPr>
              <a:t>需行动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15568"/>
            <a:ext cx="3749039" cy="137160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74F"/>
                </a:solidFill>
                <a:latin typeface="Microsoft YaHei"/>
                <a:ea typeface="Microsoft YaHei"/>
              </a:rPr>
              <a:t>八线同紧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GPU+HBM/DRAM+NAND+CPU+封装+MLCC+光模块+电力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8899AA"/>
                </a:solidFill>
                <a:latin typeface="Microsoft YaHei"/>
                <a:ea typeface="Microsoft YaHei"/>
              </a:rPr>
              <a:t>2026 首次同时紧缺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06239" y="1691640"/>
            <a:ext cx="320040" cy="219456"/>
          </a:xfrm>
          <a:prstGeom prst="rightArrow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26279" y="1115568"/>
            <a:ext cx="3749039" cy="137160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74F"/>
                </a:solidFill>
                <a:latin typeface="Microsoft YaHei"/>
                <a:ea typeface="Microsoft YaHei"/>
              </a:rPr>
              <a:t>传导链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HBM 挤 DRAM → DRAM 涨 5×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8899AA"/>
                </a:solidFill>
                <a:latin typeface="Microsoft YaHei"/>
                <a:ea typeface="Microsoft YaHei"/>
              </a:rPr>
              <a:t>CXL 对冲 → 存储迁闪存 → NAND 涨 → BOM 全面升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275319" y="1691640"/>
            <a:ext cx="320040" cy="219456"/>
          </a:xfrm>
          <a:prstGeom prst="rightArrow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59" y="1115568"/>
            <a:ext cx="3749039" cy="137160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74F"/>
                </a:solidFill>
                <a:latin typeface="Microsoft YaHei"/>
                <a:ea typeface="Microsoft YaHei"/>
              </a:rPr>
              <a:t>规格改写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NVIDIA「灵活 SKU」+ 昆仑芯锁定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8899AA"/>
                </a:solidFill>
                <a:latin typeface="Microsoft YaHei"/>
                <a:ea typeface="Microsoft YaHei"/>
              </a:rPr>
              <a:t>供给侧约束反噬产品规格的实证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3749039" cy="105156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⏳ 波浪式缓解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MLCC/NAND 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先缓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晶圆/封装/HBM 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后缓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峰值区 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2026H2-2027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670048"/>
            <a:ext cx="3749039" cy="105156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🔧 对研发的含义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DRAM 涨 5× → CXL 内存池化对冲</a:t>
            </a: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（已有结论）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LPDDR 大容量路线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规避 HBM 危机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670048"/>
            <a:ext cx="3749039" cy="1051560"/>
          </a:xfrm>
          <a:prstGeom prst="roundRect">
            <a:avLst/>
          </a:prstGeom>
          <a:solidFill>
            <a:srgbClr val="3A1A24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⚠️ 8/12 实况分歧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FMS 期间 TrendForce 称 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Rubin Ultra 降配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NVIDIA 官方否认，称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「灵活 SKU」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FF5252"/>
                </a:solidFill>
                <a:latin typeface="Microsoft YaHei"/>
                <a:ea typeface="Microsoft YaHei"/>
              </a:rPr>
              <a:t>需求侧应跟踪实际出货规格而非官方叙事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⚠️来源：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TrendForce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DIGITIMES 08-12（付费墙，标题摘要为准）· 知识库 08-07 供应链约束分析 · 🔶规格改写机制三条件推导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01 · 看宏观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1.3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三大会独立观测收敛到同一范式——</a:t>
            </a:r>
            <a:r>
              <a:rPr sz="2100" b="1" i="0">
                <a:solidFill>
                  <a:srgbClr val="4FC3F7"/>
                </a:solidFill>
                <a:latin typeface="Microsoft YaHei"/>
                <a:ea typeface="Microsoft YaHei"/>
              </a:rPr>
              <a:t>AI 负载重新定义存储语义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100" b="1" i="0">
                <a:solidFill>
                  <a:srgbClr val="FFD74F"/>
                </a:solidFill>
                <a:latin typeface="Microsoft YaHei"/>
                <a:ea typeface="Microsoft YaHei"/>
              </a:rPr>
              <a:t>三方印证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8E2F0"/>
                </a:solidFill>
                <a:latin typeface="Microsoft YaHei"/>
                <a:ea typeface="Microsoft YaHei"/>
              </a:rPr>
              <a:t>当三个利益独立的主体（GPU 生态 / 存储原厂 / 中国标准组织）得出同一结论，该结论置信度远高于单一来源。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72768"/>
          <a:ext cx="1124712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统一趋势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证据强度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证据链（GTC / FMS / ODCC）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存储内存化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（闪存=算力扩展内存）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⭐⭐⭐⭐⭐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Storage-Next/CMX + Flash-as-Memory/HBF + 存储直通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GPU 中心化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（GPU 直连存储/内存，绕过 CPU）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⭐⭐⭐⭐⭐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GPU-Initiated SSD + ScaleFlux×NVIDIA + 去 CPU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标准化落地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（NHA/ODS/HBF 从概念进实施）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⭐⭐⭐⭐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CXL 量产 + NHA/ODS + 遥测呼应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中国方案崛起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（应用层领先/基础层追赶）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⭐⭐⭐⭐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ODCC 四大专题 + FMS 中国厂商 + 澜起/大普微/美团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nvidia.com GTC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SK hynix FMS 报道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ODCC 2026 夏季全会（15 项标准 11 项 AI 相关）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C3F7"/>
                </a:solidFill>
                <a:latin typeface="Microsoft YaHei"/>
                <a:ea typeface="Microsoft YaHei"/>
              </a:rPr>
              <a:t>PART 02 · 看市场 / 客户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AI 推理存储需求爆发——</a:t>
            </a:r>
            <a:r>
              <a:rPr sz="2600" b="1" i="0">
                <a:solidFill>
                  <a:srgbClr val="4FC3F7"/>
                </a:solidFill>
                <a:latin typeface="Microsoft YaHei"/>
                <a:ea typeface="Microsoft YaHei"/>
              </a:rPr>
              <a:t>KV Cache 是第一性需求</a:t>
            </a: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
</a:t>
            </a: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负载形态决定机型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8E2F0"/>
                </a:solidFill>
                <a:latin typeface="Microsoft YaHei"/>
                <a:ea typeface="Microsoft YaHei"/>
              </a:rPr>
              <a:t>本部分回答：KV Cache 为何成为存储新语义？三类负载如何对应三类机型？谁付费意愿最高？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02 · 看市场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2.1</a:t>
            </a: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KV Cache 是第一性需求：128K 上下文 KV 已吃掉 H200 近 30% 容量，</a:t>
            </a:r>
            <a:r>
              <a:rPr sz="1800" b="1" i="0">
                <a:solidFill>
                  <a:srgbClr val="FF5252"/>
                </a:solidFill>
                <a:latin typeface="Microsoft YaHei"/>
                <a:ea typeface="Microsoft YaHei"/>
              </a:rPr>
              <a:t>decode 带宽远超 CXL/SSD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8E2F0"/>
                </a:solidFill>
                <a:latin typeface="Microsoft YaHei"/>
                <a:ea typeface="Microsoft YaHei"/>
              </a:rPr>
              <a:t>KV 公式（第一性原理，70B GQA 8:1 FP16）：</a:t>
            </a:r>
            <a:r>
              <a:rPr sz="1150" b="1" i="0">
                <a:solidFill>
                  <a:srgbClr val="D8E2F0"/>
                </a:solidFill>
                <a:latin typeface="Microsoft YaHei"/>
                <a:ea typeface="Microsoft YaHei"/>
              </a:rPr>
              <a:t>KV = batch × seq × 2 × L × D_eff × dtype</a:t>
            </a:r>
            <a:r>
              <a:rPr sz="1150" b="0" i="0">
                <a:solidFill>
                  <a:srgbClr val="D8E2F0"/>
                </a:solidFill>
                <a:latin typeface="Microsoft YaHei"/>
                <a:ea typeface="Microsoft YaHei"/>
              </a:rPr>
              <a:t> = 320KB/token；128K→41.9GB、1M→320GB。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.0" y="1572768"/>
          <a:ext cx="5623558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79"/>
                <a:gridCol w="281177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对整机硬件的诉求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量化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HBM 容量仍不足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141→288 GB/卡，</a:t>
                      </a: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KV 必然溢出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分层迁移带宽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DDR 450GB/s / CXL 64GB/s / SSD 14GB/s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SSD 小随机读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512B 粒度，4K 优化盘 </a:t>
                      </a: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8× 读放大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host DRAM 容量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≥ 8× GPU HBM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（P0 结论）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80760" y="1572768"/>
            <a:ext cx="562355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8E2F0"/>
                </a:solidFill>
                <a:latin typeface="Microsoft YaHei"/>
                <a:ea typeface="Microsoft YaHei"/>
              </a:rPr>
              <a:t>🔶 128K × 20 tok/s = 838 GB/s —— 远超 CXL(64) 与 SSD(14)，</a:t>
            </a:r>
            <a:r>
              <a:rPr sz="1100" b="0" i="0">
                <a:solidFill>
                  <a:srgbClr val="FF5252"/>
                </a:solidFill>
                <a:latin typeface="Microsoft YaHei"/>
                <a:ea typeface="Microsoft YaHei"/>
              </a:rPr>
              <a:t>必须依赖注意力稀疏性只读子集</a:t>
            </a:r>
            <a:r>
              <a:rPr sz="1100" b="0" i="0">
                <a:solidFill>
                  <a:srgbClr val="D8E2F0"/>
                </a:solidFill>
                <a:latin typeface="Microsoft YaHei"/>
                <a:ea typeface="Microsoft YaHei"/>
              </a:rPr>
              <a:t>（OasisKV/HiSparse 技术前提）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🔶来源：KV 公式推导（知识库 KV 深度分析）· ✅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NVIDIA GDS 官方文档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Kioxia GP 系列 1 亿 IOPS 规格（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官方稿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02 · 看市场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2.2</a:t>
            </a: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负载形态是机型设计的第一输入：</a:t>
            </a:r>
            <a:r>
              <a:rPr sz="1900" b="1" i="0">
                <a:solidFill>
                  <a:srgbClr val="4FC3F7"/>
                </a:solidFill>
                <a:latin typeface="Microsoft YaHei"/>
                <a:ea typeface="Microsoft YaHei"/>
              </a:rPr>
              <a:t>同一 GPU 平台挂不同外围 = 三类不同机型</a:t>
            </a: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900" b="1" i="0">
                <a:solidFill>
                  <a:srgbClr val="FFD74F"/>
                </a:solidFill>
                <a:latin typeface="Microsoft YaHei"/>
                <a:ea typeface="Microsoft YaHei"/>
              </a:rPr>
              <a:t>SKU 化第一原则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15568"/>
          <a:ext cx="1124712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场景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驱动因素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典型负载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核心矛盾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机型设计要点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A 单请求长上下文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容量（KV 装不下）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长文档分析、RAG、多模态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KV 总量 &gt; HBM 容量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分层存储 + CXL 池化 + 大容量内存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B 高并发短请求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吞吐（不够快）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办公助手、Agent 多轮、代码生成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并发 KV × decode 带宽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PD 分离 + 强调度 + KV 通道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C MoE 动态路由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结构（模型要求）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DeepSeek V3 类 MoE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专家跨节点 AllToAll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确定性互联 + 在网计算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im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88920"/>
            <a:ext cx="3087044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599432"/>
            <a:ext cx="11247120" cy="-731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899AA"/>
                </a:solidFill>
                <a:latin typeface="Microsoft YaHei"/>
                <a:ea typeface="Microsoft YaHei"/>
              </a:rPr>
              <a:t>🖼 官方配图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：SK hynix AI 基础设施洞察系列——AI 内存/存储架构演进佐证（场景化存储层级）——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news.skhynix.com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
</a:t>
            </a:r>
            <a:r>
              <a:rPr sz="850" b="1" i="0">
                <a:solidFill>
                  <a:srgbClr val="8899AA"/>
                </a:solidFill>
                <a:latin typeface="Microsoft YaHei"/>
                <a:ea typeface="Microsoft YaHei"/>
              </a:rPr>
              <a:t>含义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：内存层与计算层解耦设计 + 软件栈支持场景感知的 KV 放置策略 = 产品线 SKU 化第一原则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KV 三场景机型设计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（知识库 08-11）· 配图 curl 验证 200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02 · 看市场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2.3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推理云与超大规模 CSP 付费意愿最高——</a:t>
            </a:r>
            <a:r>
              <a:rPr sz="2100" b="1" i="0">
                <a:solidFill>
                  <a:srgbClr val="4FC3F7"/>
                </a:solidFill>
                <a:latin typeface="Microsoft YaHei"/>
                <a:ea typeface="Microsoft YaHei"/>
              </a:rPr>
              <a:t>「单位 token 成本」成为存储采购第一标尺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15568"/>
          <a:ext cx="1124712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客户类型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核心需求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痛点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付费意愿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推理云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（tokens-as-a-service）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单位 token 成本最低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HBM 机型 TCO 高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（成本敏感）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超大规模 CSP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KV 卸载、GPU 利用率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扩容受制于内存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主权 AI / 企业私有化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供应安全 + 风冷易部署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生态锁定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中高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传统企业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存储容量/可靠性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成本敏感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72968"/>
            <a:ext cx="1124712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字节跳动 CXL 卸载实测：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batch +30% / GPU 需求 -87% / prefill 利用率 ×7.5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 ——「以存储换计算」从口号变可复现数据 </a:t>
            </a:r>
            <a:r>
              <a:rPr sz="1200" b="0" i="0">
                <a:solidFill>
                  <a:srgbClr val="69F0AE"/>
                </a:solidFill>
                <a:latin typeface="Microsoft YaHei"/>
                <a:ea typeface="Microsoft YaHei"/>
              </a:rPr>
              <a:t>✓ 关键量化证据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评价标准从带宽/延迟转向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Token 吞吐/成本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：中国日均 Token 调用量破 140 万亿（两年 1000×）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洞察报告 v1.5 §5.2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⚠️字节实测为广发证券研报引述，精确值待内部复现（附录 B 已登记）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C3F7"/>
                </a:solidFill>
                <a:latin typeface="Microsoft YaHei"/>
                <a:ea typeface="Microsoft YaHei"/>
              </a:rPr>
              <a:t>PART 03 · 看竞争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三条存储技术路线</a:t>
            </a:r>
            <a:r>
              <a:rPr sz="2600" b="1" i="0">
                <a:solidFill>
                  <a:srgbClr val="4FC3F7"/>
                </a:solidFill>
                <a:latin typeface="Microsoft YaHei"/>
                <a:ea typeface="Microsoft YaHei"/>
              </a:rPr>
              <a:t>并存分层</a:t>
            </a: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
</a:t>
            </a: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整机差异化空间在</a:t>
            </a:r>
            <a:r>
              <a:rPr sz="2600" b="1" i="0">
                <a:solidFill>
                  <a:srgbClr val="4FC3F7"/>
                </a:solidFill>
                <a:latin typeface="Microsoft YaHei"/>
                <a:ea typeface="Microsoft YaHei"/>
              </a:rPr>
              <a:t>中间层整合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8E2F0"/>
                </a:solidFill>
                <a:latin typeface="Microsoft YaHei"/>
                <a:ea typeface="Microsoft YaHei"/>
              </a:rPr>
              <a:t>本部分回答：NVIDIA / Intel / 中国三条路线各自定义什么？对整机厂商意味着什么？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03 · 看竞争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3.1</a:t>
            </a: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NVIDIA 路线：CMX/G3.5 定义推理内存层级——</a:t>
            </a:r>
            <a:r>
              <a:rPr sz="1900" b="1" i="0">
                <a:solidFill>
                  <a:srgbClr val="4FC3F7"/>
                </a:solidFill>
                <a:latin typeface="Microsoft YaHei"/>
                <a:ea typeface="Microsoft YaHei"/>
              </a:rPr>
              <a:t>存储=算力扩展内存</a:t>
            </a: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（ICMS 五层 tier model）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15568"/>
            <a:ext cx="2249423" cy="137160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74F"/>
                </a:solidFill>
                <a:latin typeface="Microsoft YaHei"/>
                <a:ea typeface="Microsoft YaHei"/>
              </a:rPr>
              <a:t>G1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HBM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8899AA"/>
                </a:solidFill>
                <a:latin typeface="Microsoft YaHei"/>
                <a:ea typeface="Microsoft YaHei"/>
              </a:rPr>
              <a:t>~35ns / 22TB/s in-GPU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06623" y="1691640"/>
            <a:ext cx="320040" cy="219456"/>
          </a:xfrm>
          <a:prstGeom prst="rightArrow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26663" y="1115568"/>
            <a:ext cx="2249423" cy="137160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74F"/>
                </a:solidFill>
                <a:latin typeface="Microsoft YaHei"/>
                <a:ea typeface="Microsoft YaHei"/>
              </a:rPr>
              <a:t>G2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DDR5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8899AA"/>
                </a:solidFill>
                <a:latin typeface="Microsoft YaHei"/>
                <a:ea typeface="Microsoft YaHei"/>
              </a:rPr>
              <a:t>~80ns / 614GB/s 本地主存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76087" y="1691640"/>
            <a:ext cx="320040" cy="219456"/>
          </a:xfrm>
          <a:prstGeom prst="rightArrow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96127" y="1115568"/>
            <a:ext cx="2249423" cy="137160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74F"/>
                </a:solidFill>
                <a:latin typeface="Microsoft YaHei"/>
                <a:ea typeface="Microsoft YaHei"/>
              </a:rPr>
              <a:t>G3.5 NEW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温存储层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8899AA"/>
                </a:solidFill>
                <a:latin typeface="Microsoft YaHei"/>
                <a:ea typeface="Microsoft YaHei"/>
              </a:rPr>
              <a:t>~175μs / 100GB/s+ CMX/CXL/高性 SSD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45551" y="1691640"/>
            <a:ext cx="320040" cy="219456"/>
          </a:xfrm>
          <a:prstGeom prst="rightArrow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5591" y="1115568"/>
            <a:ext cx="2249423" cy="137160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74F"/>
                </a:solidFill>
                <a:latin typeface="Microsoft YaHei"/>
                <a:ea typeface="Microsoft YaHei"/>
              </a:rPr>
              <a:t>G4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NVMe 池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8899AA"/>
                </a:solidFill>
                <a:latin typeface="Microsoft YaHei"/>
                <a:ea typeface="Microsoft YaHei"/>
              </a:rPr>
              <a:t>~5-10μs / 28GB/s 远端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415014" y="1691640"/>
            <a:ext cx="320040" cy="219456"/>
          </a:xfrm>
          <a:prstGeom prst="rightArrow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735054" y="1115568"/>
            <a:ext cx="2249423" cy="137160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74F"/>
                </a:solidFill>
                <a:latin typeface="Microsoft YaHei"/>
                <a:ea typeface="Microsoft YaHei"/>
              </a:rPr>
              <a:t>G5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对象/冷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8899AA"/>
                </a:solidFill>
                <a:latin typeface="Microsoft YaHei"/>
                <a:ea typeface="Microsoft YaHei"/>
              </a:rPr>
              <a:t>~100μs+ / 低带宽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70048"/>
            <a:ext cx="3749039" cy="105156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Storage-Next 倡议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SSD 厂商设计 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GPU-Initiated 专用盘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闪存定位从"存储设备"→"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HBM 容量扩展层</a:t>
            </a: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"（语义跃迁）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670048"/>
            <a:ext cx="3749039" cy="105156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cuFile 开源（FMS）+ SCADA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XIO-SIG：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Google/Intel/Meta/NVIDIA 共治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Storage-Next 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40+ 厂商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NVIDIA 首次开放存储控制面 </a:t>
            </a:r>
            <a:r>
              <a:rPr sz="1000" b="0" i="0">
                <a:solidFill>
                  <a:srgbClr val="69F0AE"/>
                </a:solidFill>
                <a:latin typeface="Microsoft YaHei"/>
                <a:ea typeface="Microsoft YaHei"/>
              </a:rPr>
              <a:t>✓ 必须生态共建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SCADA</a:t>
            </a: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（Scaled Accelerated Data Access）：GPU 发起存储访问编程模型（8/10 Smart IOPS 产品佐证）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670048"/>
            <a:ext cx="3749039" cy="105156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CMX 生态对齐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推理 KV 官方框架：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Dynamo/NIXL/DOCA Memos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Kioxia GP 系列、CM10 直接对齐 CMX 场景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BF4 STX Storage-on-Rail（800G）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NVIDIA GTC 2026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Kioxia GP1 官方稿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Kioxia CM10 官方稿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03 · 看竞争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3.2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Intel 路线：CXL/JBOF 内存池化——</a:t>
            </a:r>
            <a:r>
              <a:rPr sz="2100" b="1" i="0">
                <a:solidFill>
                  <a:srgbClr val="69F0AE"/>
                </a:solidFill>
                <a:latin typeface="Microsoft YaHei"/>
                <a:ea typeface="Microsoft YaHei"/>
              </a:rPr>
              <a:t>非 NVIDIA 锁定的差异化机会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100" b="1" i="0">
                <a:solidFill>
                  <a:srgbClr val="FFD74F"/>
                </a:solidFill>
                <a:latin typeface="Microsoft YaHei"/>
                <a:ea typeface="Microsoft YaHei"/>
              </a:rPr>
              <a:t>CXL 3.2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15568"/>
            <a:ext cx="3749039" cy="105156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Crescent Island（新品）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160GB LPDDR5X 风冷</a:t>
            </a: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推理 GPU（英文官方稿）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容量型推理 GPU 细分赛道实证：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"容量换带宽"</a:t>
            </a: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匹配 KV 推理真实瓶颈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⚠️ 中文稿 128GB 口径不一致，待确认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15568"/>
            <a:ext cx="3749039" cy="105156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JBOF 三硬件组成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独立 CXL 控制器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GMM+SSD 混合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GNR-D + CXL Switch + NIC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CXL Switch 定位=协议翻译+热点缓存+QoS 仲裁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115568"/>
            <a:ext cx="3749039" cy="1051560"/>
          </a:xfrm>
          <a:prstGeom prst="roundRect">
            <a:avLst/>
          </a:prstGeom>
          <a:solidFill>
            <a:srgbClr val="3A1A24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CXL 成本对冲逻辑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DRAM 涨价 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5×</a:t>
            </a: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 → CXL 池化成成本对冲首选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CXL 3.2 标准推进（多级交换/Fabric）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Xeon 作为 KV Cache 管理器</a:t>
            </a:r>
          </a:p>
        </p:txBody>
      </p:sp>
      <p:pic>
        <p:nvPicPr>
          <p:cNvPr id="8" name="Picture 7" descr="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04288"/>
            <a:ext cx="3108960" cy="642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019958"/>
            <a:ext cx="11247120" cy="102169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899AA"/>
                </a:solidFill>
                <a:latin typeface="Microsoft YaHei"/>
                <a:ea typeface="Microsoft YaHei"/>
              </a:rPr>
              <a:t>🖼 官方配图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：CXL 联盟（Compute Express Link Consortium）——CXL 3.x 规范与生态 SSOT ——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computeexpresslink.org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
</a:t>
            </a:r>
            <a:r>
              <a:rPr sz="850" b="1" i="0">
                <a:solidFill>
                  <a:srgbClr val="8899AA"/>
                </a:solidFill>
                <a:latin typeface="Microsoft YaHei"/>
                <a:ea typeface="Microsoft YaHei"/>
              </a:rPr>
              <a:t>含义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：CXL 填补 DDR5↔NVMe 之间 350ns 延迟鸿沟，四大内存池化系统（5TB 机箱→144TB 机架）标志进入系统级池化时代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CXL 联盟官网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（curl 200）· Intel Crescent Island 官方口径（160 vs 128GB 待确认，附录 B）·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Intel KV Cache G3.5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03 · 看竞争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3.3</a:t>
            </a: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中国路线：ODCC 标准 + 国产介质——</a:t>
            </a:r>
            <a:r>
              <a:rPr sz="2000" b="1" i="0">
                <a:solidFill>
                  <a:srgbClr val="4FC3F7"/>
                </a:solidFill>
                <a:latin typeface="Microsoft YaHei"/>
                <a:ea typeface="Microsoft YaHei"/>
              </a:rPr>
              <a:t>应用层领先 / 基础层追赶</a:t>
            </a: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，可靠性标准化全球领先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15568"/>
            <a:ext cx="3749039" cy="105156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ODCC 标准话语权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春季全会：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存算分离 DPU+NVMe-oF 强制标准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夏季全会：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15 项标准 11 项 AI 相关</a:t>
            </a: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（73%）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GPU 直通技术研究（昇腾/寒武纪/海光 + GDS 适配标准化）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15568"/>
            <a:ext cx="3749039" cy="105156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可靠性标准化领先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美团 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NHA</a:t>
            </a: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（ODCC2505002）：NVMe 子系统全息健康评估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可靠性从厂商私有 → 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行业公共基础设施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69F0AE"/>
                </a:solidFill>
                <a:latin typeface="Microsoft YaHei"/>
                <a:ea typeface="Microsoft YaHei"/>
              </a:rPr>
              <a:t>✓ 中国在可靠性标准化上领先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115568"/>
            <a:ext cx="3749039" cy="105156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国产介质突破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大普微 R6060 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512TB E2</a:t>
            </a: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（FMS 现场最大容量）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长鑫 LPDDR6 </a:t>
            </a:r>
            <a:r>
              <a:rPr sz="1000" b="1" i="0">
                <a:solidFill>
                  <a:srgbClr val="D8E2F0"/>
                </a:solidFill>
                <a:latin typeface="Microsoft YaHei"/>
                <a:ea typeface="Microsoft YaHei"/>
              </a:rPr>
              <a:t>2026H2 全球首发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澜起 MXC CXL 3.2 全球首个试产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D8E2F0"/>
                </a:solidFill>
                <a:latin typeface="Microsoft YaHei"/>
                <a:ea typeface="Microsoft YaHei"/>
              </a:rPr>
              <a:t>ODS 开放解构超节点 + ETH-X + 3.2T NPO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✅来源：ODCC 2026 全会（知识库专题）· FMS 2026 中国厂商 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ODCC 存储专题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⚠️ODCC 官网直连超时，经二手权威源交叉获取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03 · 看竞争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3.4</a:t>
            </a: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三路线不是互斥而是</a:t>
            </a: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并存分层</a:t>
            </a: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——整机差异化在</a:t>
            </a: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「把三家的组件与软件栈整合成可交付的推理存储方案」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15568"/>
          <a:ext cx="1124712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路线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主导者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核心介质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软件栈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对整机厂商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CMX/G3.5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NVIDIA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HBM + NVMe-oF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cuFile/CMX/DOCA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跟随生态，做整机集成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CXL/JBOF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Intel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DDR5 + CXL + LPDDR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memkind/CXL 软件栈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69F0AE"/>
                          </a:solidFill>
                          <a:latin typeface="Microsoft YaHei"/>
                          <a:ea typeface="Microsoft YaHei"/>
                        </a:rPr>
                        <a:t>差异化机会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（非 NVIDIA 锁定）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中国标准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ODCC/国产厂商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国产 NAND/DRAM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GDS 适配标准化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借标准之力做整机差异化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im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88920"/>
            <a:ext cx="3090113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599432"/>
            <a:ext cx="11247120" cy="-731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899AA"/>
                </a:solidFill>
                <a:latin typeface="Microsoft YaHei"/>
                <a:ea typeface="Microsoft YaHei"/>
              </a:rPr>
              <a:t>🖼 官方配图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：Samsung × Broadcom 内存+晶圆代工战略合作（2026-07）——DRAM/HBM 与先进逻辑协同佐证存储原厂生态整合 ——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news.samsung.com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
</a:t>
            </a:r>
            <a:r>
              <a:rPr sz="850" b="1" i="0">
                <a:solidFill>
                  <a:srgbClr val="8899AA"/>
                </a:solidFill>
                <a:latin typeface="Microsoft YaHei"/>
                <a:ea typeface="Microsoft YaHei"/>
              </a:rPr>
              <a:t>含义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：NVIDIA 定义推理内存层级、Intel 定义池化内存、中国定义标准化与可靠性——</a:t>
            </a:r>
            <a:r>
              <a:rPr sz="850" b="0" i="0">
                <a:solidFill>
                  <a:srgbClr val="FF5252"/>
                </a:solidFill>
                <a:latin typeface="Microsoft YaHei"/>
                <a:ea typeface="Microsoft YaHei"/>
              </a:rPr>
              <a:t>整机厂商不能只做组装，中间层整合才有壁垒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领导汇报版 §3.4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Samsung 官方新闻室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（curl 200）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04 · 看自身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4.1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软件栈是最大短板——</a:t>
            </a:r>
            <a:r>
              <a:rPr sz="2100" b="1" i="0">
                <a:solidFill>
                  <a:srgbClr val="FF5252"/>
                </a:solidFill>
                <a:latin typeface="Microsoft YaHei"/>
                <a:ea typeface="Microsoft YaHei"/>
              </a:rPr>
              <a:t>硬件容量买得到，软件能力买不到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100" b="1" i="0">
                <a:solidFill>
                  <a:srgbClr val="FFD74F"/>
                </a:solidFill>
                <a:latin typeface="Microsoft YaHei"/>
                <a:ea typeface="Microsoft YaHei"/>
              </a:rPr>
              <a:t>P0 行动点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15568"/>
          <a:ext cx="1124712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现状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依据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差距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整机架构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中强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超节点/风冷/液冷产品线经验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内存层解耦设计（三类场景 SKU 化）未落地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存储硬件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本地 NVMe/盘阵设计能力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GPU-Initiated SSD、512B 优化、E2 形态新知识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软件栈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弱→中（最大短板）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GDS/NVMe-oF/KV 分层调度软件经验不足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GPU-Initiated I/O、KV 分层管理、故障诊断三块空白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故障诊断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基础 RAS 能力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I/O 层监控、假存活识别缺失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标准化参与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有 ODCC 参与基础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可借 NHA/ODS 标准提升话语权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57016"/>
            <a:ext cx="11247120" cy="101287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G3.5 的 14 条需求中，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P0 五条（R9 KV 分层 / R1 GPU-Initiated SSD / R13 存储 QoS / R14 Prestaging / R5 DPU 卸载）全部是软件栈需求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软件团队现状不足以支撑——</a:t>
            </a:r>
            <a:r>
              <a:rPr sz="1200" b="0" i="0">
                <a:solidFill>
                  <a:srgbClr val="FF5252"/>
                </a:solidFill>
                <a:latin typeface="Microsoft YaHei"/>
                <a:ea typeface="Microsoft YaHei"/>
              </a:rPr>
              <a:t>需 5-8 人存储软件栈专职团队（GDS/NVMe-oF/KV 分层各 2-3 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✅来源：内部能力盘点（领导汇报版 §4）· 🔶判断：硬件可买、软件不可买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C3F7"/>
                </a:solidFill>
                <a:latin typeface="Microsoft YaHei"/>
                <a:ea typeface="Microsoft YaHei"/>
              </a:rPr>
              <a:t>PART 05 · 看机会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五大专题机会窗口——</a:t>
            </a:r>
            <a:r>
              <a:rPr sz="2600" b="1" i="0">
                <a:solidFill>
                  <a:srgbClr val="4FC3F7"/>
                </a:solidFill>
                <a:latin typeface="Microsoft YaHei"/>
                <a:ea typeface="Microsoft YaHei"/>
              </a:rPr>
              <a:t>全部指向「以存储换计算」的推理经济学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8E2F0"/>
                </a:solidFill>
                <a:latin typeface="Microsoft YaHei"/>
                <a:ea typeface="Microsoft YaHei"/>
              </a:rPr>
              <a:t>本部分回答：G3.5 / LPDDR / CXL 软件栈 / KV 分层 / 故障诊断，各自的机会在哪、量化规格是什么？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05 · 看机会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5.1</a:t>
            </a: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机会一 G3.5：共享闪存层不是「更多容量」而是「语义迁移」——</a:t>
            </a:r>
            <a:r>
              <a:rPr sz="1900" b="1" i="0">
                <a:solidFill>
                  <a:srgbClr val="FF5252"/>
                </a:solidFill>
                <a:latin typeface="Microsoft YaHei"/>
                <a:ea typeface="Microsoft YaHei"/>
              </a:rPr>
              <a:t>14 条需求 P0 五条缺一不可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.0" y="1115568"/>
          <a:ext cx="5623557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1874519"/>
                <a:gridCol w="187451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G3.5 规格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对比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时延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50-200 μs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介于本地闪存(10-100μs)与远端共享(1-10ms)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带宽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25-50 GB/s/链路；200-800 GB/s/pod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网络直连 + 控制面卸载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容量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100s TB · pod 共享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填补容量断层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能效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5× 能效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（无通用保护）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KV 是 transient/recomputable，通用保护 100% 浪费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72968"/>
            <a:ext cx="562355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8E2F0"/>
                </a:solidFill>
                <a:latin typeface="Microsoft YaHei"/>
                <a:ea typeface="Microsoft YaHei"/>
              </a:rPr>
              <a:t>⚠️ 不是通用存储（无快照/RAID）、不是训练 checkpoint 层（G4）、不是 CXL 内存扩展（G2.5）、</a:t>
            </a:r>
            <a:r>
              <a:rPr sz="1100" b="1" i="0">
                <a:solidFill>
                  <a:srgbClr val="D8E2F0"/>
                </a:solidFill>
                <a:latin typeface="Microsoft YaHei"/>
                <a:ea typeface="Microsoft YaHei"/>
              </a:rPr>
              <a:t>不服务 decode 路径</a:t>
            </a:r>
            <a:r>
              <a:rPr sz="1100" b="0" i="0">
                <a:solidFill>
                  <a:srgbClr val="D8E2F0"/>
                </a:solidFill>
                <a:latin typeface="Microsoft YaHei"/>
                <a:ea typeface="Microsoft YaHei"/>
              </a:rPr>
              <a:t>——只服务换入换出（prestage）与跨节点恢复</a:t>
            </a:r>
          </a:p>
        </p:txBody>
      </p:sp>
      <p:pic>
        <p:nvPicPr>
          <p:cNvPr id="7" name="Picture 6" descr="im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115568"/>
            <a:ext cx="3087044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80760" y="2926080"/>
            <a:ext cx="5623559" cy="-731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899AA"/>
                </a:solidFill>
                <a:latin typeface="Microsoft YaHei"/>
                <a:ea typeface="Microsoft YaHei"/>
              </a:rPr>
              <a:t>🖼 官方配图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：SK hynix HBF（High Bandwidth Flash）FMS 2026 发布稿——G3.5 温存储层承载新候选 ——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news.skhynix.com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80760.125" y="2944368"/>
          <a:ext cx="5623558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79"/>
                <a:gridCol w="281177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14 条需求 P0 五条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组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R9 KV 分层 G3.5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（50-200μs/200-800GB/s）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B 分层共享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R1 GPU-Initiated SSD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（1 亿 IOPS/512B）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A 数据通路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R13 网络 QoS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（无损 RoCE/8 级队列）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C 网络协议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R14 Prestaging 预加载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（2-4μs bubble）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B 分层共享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R5 DPU 存算分离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（带宽 3-5×/时延 -50%）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D 控制面解构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G3.5 需求规格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SK hynix HBF 官方稿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（curl 200）· 三阶段：2026H2 MVP → 2027H1 规模化 → 2027H2+ 开放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05 · 看机会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5.2</a:t>
            </a: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机会二 LPDDR：「容量换带宽」路线与 KV 推理天然匹配——</a:t>
            </a:r>
            <a:r>
              <a:rPr sz="2000" b="1" i="0">
                <a:solidFill>
                  <a:srgbClr val="4FC3F7"/>
                </a:solidFill>
                <a:latin typeface="Microsoft YaHei"/>
                <a:ea typeface="Microsoft YaHei"/>
              </a:rPr>
              <a:t>应规划 LPDDR 容量型 SKU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15568"/>
          <a:ext cx="1124712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信号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对整机的意义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Intel Crescent Island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160GB LPDDR5X 风冷推理 GPU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容量型 SKU 市场验证（160 vs 128GB 口径待确认）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长鑫 LPDDR6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2026H2 全球首发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（x6 子通道/512GB）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69F0AE"/>
                          </a:solidFill>
                          <a:latin typeface="Microsoft YaHei"/>
                          <a:ea typeface="Microsoft YaHei"/>
                        </a:rPr>
                        <a:t>国产大容量内存供应窗口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LPDDR5X-PIM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FMS 行业首个 PIM LPDDR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内存内计算下沉到 LPDDR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AMD Helios 500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Verano + LPDDR5X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超节点级 LPDDR 应用（2027）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GB300 Grace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LPDDR ~480GB ≤ GPU HBM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host DRAM ≥ 8× GPU HBM（P0 结论）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57016"/>
            <a:ext cx="3090113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367528"/>
            <a:ext cx="11247120" cy="-731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899AA"/>
                </a:solidFill>
                <a:latin typeface="Microsoft YaHei"/>
                <a:ea typeface="Microsoft YaHei"/>
              </a:rPr>
              <a:t>🖼 官方配图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：Samsung FMS 2026 下一代 3D 内存愿景（zHBM 路线）——内存层级重构方向佐证 ——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news.samsung.com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
</a:t>
            </a:r>
            <a:r>
              <a:rPr sz="850" b="1" i="0">
                <a:solidFill>
                  <a:srgbClr val="8899AA"/>
                </a:solidFill>
                <a:latin typeface="Microsoft YaHei"/>
                <a:ea typeface="Microsoft YaHei"/>
              </a:rPr>
              <a:t>含义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：HBM 危机下 LPDDR 大容量低带宽路线（规避 HBM、成本低、风冷可部署）与 KV 推理（带宽可由注意力稀疏性缓解）天然匹配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Samsung 官方新闻室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（curl 200）·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容量型 SKU 五看三定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（国际/国内版联动）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05 · 看机会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5.3</a:t>
            </a: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机会三 CXL：瓶颈不在硬件而在</a:t>
            </a: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软件栈成熟度</a:t>
            </a: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——</a:t>
            </a:r>
            <a:r>
              <a:rPr sz="1900" b="1" i="0">
                <a:solidFill>
                  <a:srgbClr val="4FC3F7"/>
                </a:solidFill>
                <a:latin typeface="Microsoft YaHei"/>
                <a:ea typeface="Microsoft YaHei"/>
              </a:rPr>
              <a:t>内存分层透明化是整机可做的差异化软件资产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15568"/>
          <a:ext cx="1124712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现状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软件实现要点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CXL 池化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CXL 2.0 x16 ~64GB/s；CXL 3.2 推进；四大系统（5TB→144TB）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内存池分配/回收、QoS、多主机仲裁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成本对冲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DRAM 涨价 5× → CXL 对冲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TCO 模型：CXL $/GB vs DRAM $/GB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软件栈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memkind / CXL 感知分配器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应用无感内存分层（透明迁移）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与 GPU 互联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R2（CXL 池作 HBM 容量扩展，TPU v8 路线）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GPU 侧 CXL 访问路径（当前未成熟）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HiSparse 模式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69F0AE"/>
                          </a:solidFill>
                          <a:latin typeface="Microsoft YaHei"/>
                          <a:ea typeface="Microsoft YaHei"/>
                        </a:rPr>
                        <a:t>已合入 SGLang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：host 权威副本 + GPU cache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软件 TLB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 范式（Resolve fused kernel）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CXL 联盟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HiSparse 分层 KV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（Qwen Quest GH200 200K 4.7× / KV 13.09GB→0.4GB ~30×）· 腾讯 128K:2K 稀疏性设计（ODCC）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05 · 看机会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5.4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机会四 KV 四层命运分层——</a:t>
            </a:r>
            <a:r>
              <a:rPr sz="2100" b="1" i="0">
                <a:solidFill>
                  <a:srgbClr val="4FC3F7"/>
                </a:solidFill>
                <a:latin typeface="Microsoft YaHei"/>
                <a:ea typeface="Microsoft YaHei"/>
              </a:rPr>
              <a:t>KV 放置决策器 + 带宽预算管理是整机软件核心资产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15568"/>
            <a:ext cx="2811779" cy="137160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74F"/>
                </a:solidFill>
                <a:latin typeface="Microsoft YaHei"/>
                <a:ea typeface="Microsoft YaHei"/>
              </a:rPr>
              <a:t>L0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HBM (hot)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8899AA"/>
                </a:solidFill>
                <a:latin typeface="Microsoft YaHei"/>
                <a:ea typeface="Microsoft YaHei"/>
              </a:rPr>
              <a:t>decode 期间 KV 必须在此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68979" y="1691640"/>
            <a:ext cx="320040" cy="219456"/>
          </a:xfrm>
          <a:prstGeom prst="rightArrow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89019" y="1115568"/>
            <a:ext cx="2811779" cy="137160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74F"/>
                </a:solidFill>
                <a:latin typeface="Microsoft YaHei"/>
                <a:ea typeface="Microsoft YaHei"/>
              </a:rPr>
              <a:t>L1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CPU DRAM (staging)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8899AA"/>
                </a:solidFill>
                <a:latin typeface="Microsoft YaHei"/>
                <a:ea typeface="Microsoft YaHei"/>
              </a:rPr>
              <a:t>DDR→HBM 0.7s 可在线预热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400799" y="1691640"/>
            <a:ext cx="320040" cy="219456"/>
          </a:xfrm>
          <a:prstGeom prst="rightArrow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20839" y="1115568"/>
            <a:ext cx="2811779" cy="137160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74F"/>
                </a:solidFill>
                <a:latin typeface="Microsoft YaHei"/>
                <a:ea typeface="Microsoft YaHei"/>
              </a:rPr>
              <a:t>L2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persistent (CXL/SSD)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8899AA"/>
                </a:solidFill>
                <a:latin typeface="Microsoft YaHei"/>
                <a:ea typeface="Microsoft YaHei"/>
              </a:rPr>
              <a:t>cross-req reuse；SSD→HBM 23s 只适合离线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532619" y="1691640"/>
            <a:ext cx="320040" cy="219456"/>
          </a:xfrm>
          <a:prstGeom prst="rightArrow">
            <a:avLst/>
          </a:prstGeom>
          <a:solidFill>
            <a:srgbClr val="2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52659" y="1115568"/>
            <a:ext cx="2811779" cy="1371600"/>
          </a:xfrm>
          <a:prstGeom prst="roundRect">
            <a:avLst/>
          </a:prstGeom>
          <a:solidFill>
            <a:srgbClr val="12294A"/>
          </a:solidFill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74F"/>
                </a:solidFill>
                <a:latin typeface="Microsoft YaHei"/>
                <a:ea typeface="Microsoft YaHei"/>
              </a:rPr>
              <a:t>L3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checkpoint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8899AA"/>
                </a:solidFill>
                <a:latin typeface="Microsoft YaHei"/>
                <a:ea typeface="Microsoft YaHei"/>
              </a:rPr>
              <a:t>训练恢复/容灾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0048"/>
            <a:ext cx="11247120" cy="15263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050" b="1" i="0">
                <a:solidFill>
                  <a:srgbClr val="D8E2F0"/>
                </a:solidFill>
                <a:latin typeface="Microsoft YaHei"/>
                <a:ea typeface="Microsoft YaHei"/>
              </a:rPr>
              <a:t>KV 放置决策器</a:t>
            </a:r>
            <a:r>
              <a:rPr sz="1050" b="0" i="0">
                <a:solidFill>
                  <a:srgbClr val="D8E2F0"/>
                </a:solidFill>
                <a:latin typeface="Microsoft YaHei"/>
                <a:ea typeface="Microsoft YaHei"/>
              </a:rPr>
              <a:t>：按访问热度/生命周期在四层间迁移（场景 A 容量驱动 → 分层为主）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050" b="1" i="0">
                <a:solidFill>
                  <a:srgbClr val="D8E2F0"/>
                </a:solidFill>
                <a:latin typeface="Microsoft YaHei"/>
                <a:ea typeface="Microsoft YaHei"/>
              </a:rPr>
              <a:t>带宽预算管理</a:t>
            </a:r>
            <a:r>
              <a:rPr sz="1050" b="0" i="0">
                <a:solidFill>
                  <a:srgbClr val="D8E2F0"/>
                </a:solidFill>
                <a:latin typeface="Microsoft YaHei"/>
                <a:ea typeface="Microsoft YaHei"/>
              </a:rPr>
              <a:t>：decode 全量读不可能 → 注意力稀疏性感知的 KV 子集读取（128K:2K = 64:1 稀疏性）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050" b="1" i="0">
                <a:solidFill>
                  <a:srgbClr val="D8E2F0"/>
                </a:solidFill>
                <a:latin typeface="Microsoft YaHei"/>
                <a:ea typeface="Microsoft YaHei"/>
              </a:rPr>
              <a:t>主导权切换点</a:t>
            </a:r>
            <a:r>
              <a:rPr sz="1050" b="0" i="0">
                <a:solidFill>
                  <a:srgbClr val="D8E2F0"/>
                </a:solidFill>
                <a:latin typeface="Microsoft YaHei"/>
                <a:ea typeface="Microsoft YaHei"/>
              </a:rPr>
              <a:t> T_cross = W/k：模型越小上下文越长 KV 越关键（8B@131K / 70B@452K / V3@10.3M）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050" b="1" i="0">
                <a:solidFill>
                  <a:srgbClr val="D8E2F0"/>
                </a:solidFill>
                <a:latin typeface="Microsoft YaHei"/>
                <a:ea typeface="Microsoft YaHei"/>
              </a:rPr>
              <a:t>KV 层 SSD 新三围</a:t>
            </a:r>
            <a:r>
              <a:rPr sz="1050" b="0" i="0">
                <a:solidFill>
                  <a:srgbClr val="D8E2F0"/>
                </a:solidFill>
                <a:latin typeface="Microsoft YaHei"/>
                <a:ea typeface="Microsoft YaHei"/>
              </a:rPr>
              <a:t>：512B IOPS + 有效 DWPD + FDP 流数（不再是顺序带宽）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050" b="0" i="0">
                <a:solidFill>
                  <a:srgbClr val="D8E2F0"/>
                </a:solidFill>
                <a:latin typeface="Microsoft YaHei"/>
                <a:ea typeface="Microsoft YaHei"/>
              </a:rPr>
              <a:t>实证：</a:t>
            </a:r>
            <a:r>
              <a:rPr sz="1050" b="0" i="0">
                <a:solidFill>
                  <a:srgbClr val="69F0AE"/>
                </a:solidFill>
                <a:latin typeface="Microsoft YaHei"/>
                <a:ea typeface="Microsoft YaHei"/>
              </a:rPr>
              <a:t>HiSparse 合入 SGLang</a:t>
            </a:r>
            <a:r>
              <a:rPr sz="1050" b="0" i="0">
                <a:solidFill>
                  <a:srgbClr val="D8E2F0"/>
                </a:solidFill>
                <a:latin typeface="Microsoft YaHei"/>
                <a:ea typeface="Microsoft YaHei"/>
              </a:rPr>
              <a:t>（200K 4.7×、每请求 KV ~30× 缩减、B=2k 稳健默认）；OasisKV（arXiv:2608.08097）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KV 三场景机型设计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HiSparse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🔶迁移成本第一性推导（320GB 迁移时间）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05 · 看机会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5.5</a:t>
            </a: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机会五 NCCL 假存活案证明「链路 UP ≠ 可用」——</a:t>
            </a:r>
            <a:r>
              <a:rPr sz="1900" b="1" i="0">
                <a:solidFill>
                  <a:srgbClr val="FF5252"/>
                </a:solidFill>
                <a:latin typeface="Microsoft YaHei"/>
                <a:ea typeface="Microsoft YaHei"/>
              </a:rPr>
              <a:t>I/O 层监控成为软件可靠性标配</a:t>
            </a: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900" b="1" i="0">
                <a:solidFill>
                  <a:srgbClr val="FFD74F"/>
                </a:solidFill>
                <a:latin typeface="Microsoft YaHei"/>
                <a:ea typeface="Microsoft YaHei"/>
              </a:rPr>
              <a:t>P0 行动点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.0" y="1115568"/>
          <a:ext cx="5623558" cy="115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79"/>
                <a:gridCol w="281177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NCCL 假存活案（marin#7344）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分诊/根因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死锁 GPU 100% util + 功耗冻结到小数点两位 + SM 时钟钉死 1950MHz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power.draw 双采样 5 判据合取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根因：NCCL 2.28.9 aarch64 proxy-op slot 泄漏（弱 CAS 重试旧值）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国产 ARM 芯片 NCCL 移植必须 ISA 级验证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404872"/>
            <a:ext cx="562355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8E2F0"/>
                </a:solidFill>
                <a:latin typeface="Microsoft YaHei"/>
                <a:ea typeface="Microsoft YaHei"/>
              </a:rPr>
              <a:t>⚠️「假存活」陷阱（GDS 直通形态最危险）：数据面硬件全存活、链路 UP，但控制面在 CPU——CPU 挂起后</a:t>
            </a:r>
            <a:r>
              <a:rPr sz="1100" b="0" i="0">
                <a:solidFill>
                  <a:srgbClr val="FF5252"/>
                </a:solidFill>
                <a:latin typeface="Microsoft YaHei"/>
                <a:ea typeface="Microsoft YaHei"/>
              </a:rPr>
              <a:t>任何新 I/O 无法发起</a:t>
            </a:r>
            <a:r>
              <a:rPr sz="1100" b="0" i="0">
                <a:solidFill>
                  <a:srgbClr val="D8E2F0"/>
                </a:solidFill>
                <a:latin typeface="Microsoft YaHei"/>
                <a:ea typeface="Microsoft YaHei"/>
              </a:rPr>
              <a:t>。仅看链路状态会误判"存储可用"。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115568"/>
            <a:ext cx="5623559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监控 I/O 层而非链路层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：命令完成率/队列深度/超时计数；告警阈值=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完成率 &lt;95% 持续 10s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watchdog 分层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：应用级 &gt; 框架级 &gt; 系统级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NHA 全息健康评估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（ODCC2505002）：多源异构融合（SMART/遥测/事件），1-5 分/24h IO 延时+块大小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BMC Agent 化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（R8）：故障响应提速 400%、准确率 ≥90%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"验证实际加载物"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：/proc/self/maps 而非包元数据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CPU 故障网络可靠性设计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（NCCL 假存活案 marin#7344）· ODCC NHA 标准 ODCC2505002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06 · 会议信号整合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6.1</a:t>
            </a: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五大会</a:t>
            </a: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独立但同构</a:t>
            </a: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——构成「GTC 定调 → AI Advanced 补位 → FMS 验证介质 → OCP 定标准 → ODCC 落地中国标准」年度闭环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15568"/>
          <a:ext cx="1124712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会议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时间/地点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主导方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对存储研发的核心信号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GTC 2026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2026.3 圣何塞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NVIDIA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Storage-Next（闪存=HBM 扩展层）；GPU-Initiated SSD；CMX/DOCA Memos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FMS 2026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8/4-6 圣克拉拉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存储原厂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cuFile 开源；zHBM；V10 BV-NAND 400+ 层；512B 问题；大普微 512TB E2；容量军备降温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ODCC 2026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4/2 舟山 + 6/24-26 景德镇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中国标准组织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存算分离强制标准；15 项 11 AI；NHA；KV 分层；ODS/ETH-X/3.2T NPO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OCP（APAC）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8/11-12 台北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开放计算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HBF 规范（512GB/0.4-3TB/s/UCIe）；</a:t>
                      </a:r>
                      <a:r>
                        <a:rPr sz="1100" b="0" i="0">
                          <a:solidFill>
                            <a:srgbClr val="FF5252"/>
                          </a:solidFill>
                          <a:latin typeface="Microsoft YaHei"/>
                          <a:ea typeface="Microsoft YaHei"/>
                        </a:rPr>
                        <a:t>实况：Applied Materials 呼吁硬件协同优化应对 AI 电力墙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；NVIDIA 否认 Rubin Ultra 降配称"灵活 SKU"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AI Advanced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2026.7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AMD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Zen7 2028（A14 1.4nm，MRDIMM+LPDDR6）；MI500 2027（HBM4E）；Helios 500 Verano+LPDDR5X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NVIDIA GTC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SK hynix FMS 报道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ODCC 全会 · DIGITIMES 8/12（OCP APAC 实况，付费墙）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06 · 会议信号整合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6.2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FMS 会后五大信号 + P1-P10 预测</a:t>
            </a:r>
            <a:r>
              <a:rPr sz="2100" b="1" i="0">
                <a:solidFill>
                  <a:srgbClr val="69F0AE"/>
                </a:solidFill>
                <a:latin typeface="Microsoft YaHei"/>
                <a:ea typeface="Microsoft YaHei"/>
              </a:rPr>
              <a:t>零证伪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——预测体系整体有效（10/10）</a:t>
            </a:r>
            <a:r>
              <a:rPr sz="2100" b="1" i="0">
                <a:solidFill>
                  <a:srgbClr val="FFD74F"/>
                </a:solidFill>
                <a:latin typeface="Microsoft YaHei"/>
                <a:ea typeface="Microsoft YaHei"/>
              </a:rPr>
              <a:t>已验证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.0" y="1115568"/>
          <a:ext cx="5623558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79"/>
                <a:gridCol w="281177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会后五大信号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关键事实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S1 HBF 开放规范落地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OCP 首个技术规范（512GB/8-16Hi/0.4-3.0TB/s/UCIe）；Google+Tenstorrent；九大厂无兴趣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S2 CXL 生态四级爆发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控制器（澜起 MXC 3.2）→模块（Kioxia XL1）→系统（Liqid 160TB）→平台（Marvell Structera X）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S3 内存解聚三级架构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Marvell 光内存 32TB（Photonic Fabric）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S4 GPU 发起 I/O 产品化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cuFile 开源（XIO-SIG）+ Storage-Next 40+ 厂商 + GP1/ScaleFlux/Graid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S5 Agentic AI 叙事关键词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高频小 IO/长多轮上下文成存储新工作负载画像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57016"/>
            <a:ext cx="562355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8E2F0"/>
                </a:solidFill>
                <a:latin typeface="Microsoft YaHei"/>
                <a:ea typeface="Microsoft YaHei"/>
              </a:rPr>
              <a:t>新预测 P11-P15（2026-08-07 建立，9/2-4 ODX 与 2027 GTC/FMS 为验证锚点）：HBF 生态 6+ / CXL 3.2 量产 / 光内存首部署 / Gen7 100M IOPS 共识 / 国产 Gen6 主控</a:t>
            </a:r>
          </a:p>
        </p:txBody>
      </p:sp>
      <p:pic>
        <p:nvPicPr>
          <p:cNvPr id="7" name="Picture 6" descr="img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115568"/>
            <a:ext cx="3087044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80760" y="2926080"/>
            <a:ext cx="5623559" cy="-731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899AA"/>
                </a:solidFill>
                <a:latin typeface="Microsoft YaHei"/>
                <a:ea typeface="Microsoft YaHei"/>
              </a:rPr>
              <a:t>🖼 官方配图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：SK hynix FMS 2026 参展报道——官方参会报道佐证 FMS 实况 ——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news.skhynix.com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80760.125" y="2944368"/>
          <a:ext cx="5623554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7259"/>
                <a:gridCol w="937259"/>
                <a:gridCol w="937259"/>
                <a:gridCol w="937259"/>
                <a:gridCol w="937259"/>
                <a:gridCol w="93725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信号收敛度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GTC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FMS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ODCC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OCP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收敛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GPU 发起 I/O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✅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✅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✅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⭐⭐⭐⭐⭐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KV Cache 存储化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✅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✅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✅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⭐⭐⭐⭐⭐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大容量内存路线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✅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⭐⭐⭐⭐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存储可靠性标准化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✅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⭐⭐⭐（中国领先）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电力墙→软硬件协同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✅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⭐⭐⭐（新信号）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SK hynix FMS 官方报道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FMS 复盘与预测核对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Kioxia GP 系列 Best of Show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06 · 外部数据源补充（StorageReview RSS）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6.3</a:t>
            </a: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StorageReview RSS 补充四信号：</a:t>
            </a:r>
            <a:r>
              <a:rPr sz="1300" b="1" i="0">
                <a:solidFill>
                  <a:srgbClr val="4FC3F7"/>
                </a:solidFill>
                <a:latin typeface="Microsoft YaHei"/>
                <a:ea typeface="Microsoft YaHei"/>
              </a:rPr>
              <a:t>512B IOPS 军备竞赛 + CXL 4.0 128GT/s + 存储 LTA 扩围 + KV offload 实测</a:t>
            </a: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300" b="1" i="0">
                <a:solidFill>
                  <a:srgbClr val="FFD74F"/>
                </a:solidFill>
                <a:latin typeface="Microsoft YaHei"/>
                <a:ea typeface="Microsoft YaHei"/>
              </a:rPr>
              <a:t>第三方实测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.0" y="1115568"/>
          <a:ext cx="5623557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1874519"/>
                <a:gridCol w="187451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信号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关键数据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对整机的意义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Smart IOPS T50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（08-10）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Gen6 x4 单盘 </a:t>
                      </a: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50M 随机读 IOPS @512B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；4 盘=200M；20 盘+4 GPU（RTX PRO 6000）= </a:t>
                      </a: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10 亿 IOPS 设备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；TLC pSLC + TruRandom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512B 规格语言新标杆（远超 GP1 1000 万）；</a:t>
                      </a: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GPU-Initiated 整机方案可参考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（2027Q2 量产）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Synopsys CXL 4.0 IP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（08-08）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CXL 4.0 = 128 GT/s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（=PCIe 7.0 带宽，延迟同 3.x）；4×x16 &gt;2TB/s；KV 卸载 </a:t>
                      </a: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= SSD 方案 3-6×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；CXL.mem &lt;200ns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CXL 4.0 进入 IP 化（2027 硅验证）；</a:t>
                      </a: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KV 卸载性能量化锚点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；机架池 &gt;100TB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CoreWeave×Solidigm LTA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（08-07）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多年期 SSD 容量优先协议——</a:t>
                      </a: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存储成继 GPU 后第二个需提前数年签约的组件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；TrendForce NAND 3Q26 合约 +10-15%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FF5252"/>
                          </a:solidFill>
                          <a:latin typeface="Microsoft YaHei"/>
                          <a:ea typeface="Microsoft YaHei"/>
                        </a:rPr>
                        <a:t>SSD 供给确定性成为整机供应链第一议题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（LTA/多源策略）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Marvell SC6+光内存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（08-05）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Bravera SC6 = SC5 的 </a:t>
                      </a: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2×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（2026Q4 采样）；Photonic Fabric </a:t>
                      </a: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32TB 光 KV 层</a:t>
                      </a: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（跨 50m）；Storage-Next 需 </a:t>
                      </a:r>
                      <a:r>
                        <a:rPr sz="95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Gen7 SSD 100M IOPS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光内存 P13 预测实证；SCADA 硬件需求量化（Gen7 100M IOPS 目标互证）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80760" y="1115568"/>
            <a:ext cx="5623559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Dell XE7740 + 4×RTX PRO 6000 + 8×D7-PS1030 12.8TB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恢复会话首 token：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13.9s → 3.2s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（-77%）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持续吞吐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~30K tok/s = VRAM-only 基线的 2.2×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结论：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KV offload 把"内存容量上限"变成"存储容量采购"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——与字节 -87% GPU 需求方向互证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2276856"/>
            <a:ext cx="5623559" cy="12836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SCADA 编程模型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（Scaled Accelerated Data Access）：Storage-Next 配套的 GPU 发起存储访问规范——cuFile 开源的软件层延伸，</a:t>
            </a:r>
            <a:r>
              <a:rPr sz="1200" b="0" i="0">
                <a:solidFill>
                  <a:srgbClr val="69F0AE"/>
                </a:solidFill>
                <a:latin typeface="Microsoft YaHei"/>
                <a:ea typeface="Microsoft YaHei"/>
              </a:rPr>
              <a:t>需纳入软件栈评估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Solidigm 245TB 级盘 2026 底前（vs Micron 6600 ION 1/4PB 密度）——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QLC 大容量密度竞赛持续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SK hynix 大连扩产 +50%（8/12）与 Solidigm IPO 传闻（5-10 万亿韩元）——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NAND 供给侧资本动作密集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3670260"/>
            <a:ext cx="562355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8E2F0"/>
                </a:solidFill>
                <a:latin typeface="Microsoft YaHei"/>
                <a:ea typeface="Microsoft YaHei"/>
              </a:rPr>
              <a:t>⚠️ 数据分级：StorageReview 为行业权威第三方评测媒体（非厂商一手），T50/CXL 4.0 为厂商公布规格（🏷），KV offload 实测为 SR 实验室数据（✅ 独立第三方）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storagereview.com RSS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（curl 200，08-11 更新）·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T50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CXL 4.0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CoreWeave×Solidigm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Marvell SC6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C3F7"/>
                </a:solidFill>
                <a:latin typeface="Microsoft YaHei"/>
                <a:ea typeface="Microsoft YaHei"/>
              </a:rPr>
              <a:t>PART 07 · 三定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定战略 · 定目标 · 定策略——</a:t>
            </a:r>
            <a:r>
              <a:rPr sz="2100" b="1" i="0">
                <a:solidFill>
                  <a:srgbClr val="4FC3F7"/>
                </a:solidFill>
                <a:latin typeface="Microsoft YaHei"/>
                <a:ea typeface="Microsoft YaHei"/>
              </a:rPr>
              <a:t>软件三件套 + 场景化 SKU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
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把机会转化为可执行路径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8E2F0"/>
                </a:solidFill>
                <a:latin typeface="Microsoft YaHei"/>
                <a:ea typeface="Microsoft YaHei"/>
              </a:rPr>
              <a:t>本部分回答：战略定位是什么？量化目标到哪年？P0/P1/P2 如何落地？四维影响是什么？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07 · 三定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7.1</a:t>
            </a: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战略定位：以「AI 推理存储方案」为整机差异化主轴——</a:t>
            </a:r>
            <a:r>
              <a:rPr sz="1400" b="1" i="0">
                <a:solidFill>
                  <a:srgbClr val="4FC3F7"/>
                </a:solidFill>
                <a:latin typeface="Microsoft YaHei"/>
                <a:ea typeface="Microsoft YaHei"/>
              </a:rPr>
              <a:t>软件做「GPU-Initiated I/O + KV 分层调度 + 故障诊断」三件套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562355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8E2F0"/>
                </a:solidFill>
                <a:latin typeface="Microsoft YaHei"/>
                <a:ea typeface="Microsoft YaHei"/>
              </a:rPr>
              <a:t>硬件上做</a:t>
            </a:r>
            <a:r>
              <a:rPr sz="1100" b="1" i="0">
                <a:solidFill>
                  <a:srgbClr val="D8E2F0"/>
                </a:solidFill>
                <a:latin typeface="Microsoft YaHei"/>
                <a:ea typeface="Microsoft YaHei"/>
              </a:rPr>
              <a:t>「内存分层 + 场景化 SKU」</a:t>
            </a:r>
            <a:r>
              <a:rPr sz="1100" b="0" i="0">
                <a:solidFill>
                  <a:srgbClr val="D8E2F0"/>
                </a:solidFill>
                <a:latin typeface="Microsoft YaHei"/>
                <a:ea typeface="Microsoft YaHei"/>
              </a:rPr>
              <a:t>，软件上做</a:t>
            </a:r>
            <a:r>
              <a:rPr sz="1100" b="1" i="0">
                <a:solidFill>
                  <a:srgbClr val="D8E2F0"/>
                </a:solidFill>
                <a:latin typeface="Microsoft YaHei"/>
                <a:ea typeface="Microsoft YaHei"/>
              </a:rPr>
              <a:t>「GPU-Initiated I/O + KV 分层调度 + 故障诊断」</a:t>
            </a:r>
            <a:r>
              <a:rPr sz="1100" b="0" i="0">
                <a:solidFill>
                  <a:srgbClr val="D8E2F0"/>
                </a:solidFill>
                <a:latin typeface="Microsoft YaHei"/>
                <a:ea typeface="Microsoft YaHei"/>
              </a:rPr>
              <a:t>三件套，</a:t>
            </a:r>
            <a:r>
              <a:rPr sz="1100" b="1" i="0">
                <a:solidFill>
                  <a:srgbClr val="D8E2F0"/>
                </a:solidFill>
                <a:latin typeface="Microsoft YaHei"/>
                <a:ea typeface="Microsoft YaHei"/>
              </a:rPr>
              <a:t>借 ODCC 标准与国产介质之力</a:t>
            </a:r>
            <a:r>
              <a:rPr sz="1100" b="0" i="0">
                <a:solidFill>
                  <a:srgbClr val="D8E2F0"/>
                </a:solidFill>
                <a:latin typeface="Microsoft YaHei"/>
                <a:ea typeface="Microsoft YaHei"/>
              </a:rPr>
              <a:t>，成为 AI 服务器整机的</a:t>
            </a:r>
            <a:r>
              <a:rPr sz="1100" b="1" i="0">
                <a:solidFill>
                  <a:srgbClr val="D8E2F0"/>
                </a:solidFill>
                <a:latin typeface="Microsoft YaHei"/>
                <a:ea typeface="Microsoft YaHei"/>
              </a:rPr>
              <a:t>「存储软件能力标杆」</a:t>
            </a:r>
            <a:r>
              <a:rPr sz="1100" b="0" i="0">
                <a:solidFill>
                  <a:srgbClr val="D8E2F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5623559" cy="8405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不做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存储芯片/介质（巨头战场，资本密集）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不做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纯硬件组装（无壁垒，利润 5-10%）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做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整机+软件栈集成（硬件可买，软件不可买）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时机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：G3.5 尚在定义期（2026H2 MVP），ODCC 标准落地窗口 2026-2027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115568"/>
            <a:ext cx="5623559" cy="103045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差异化主战场 =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软件栈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（三块空白：GPU-Initiated I/O / KV 分层管理 / 故障诊断）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产品抓手 =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内存分层 + 场景化 SKU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（A/B/C 三场景机型）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生态借力 =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ODCC 标准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（NHA/ODS）+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国产介质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（长鑫/大普微）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风险对冲 =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双轨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：NVIDIA 生态跟随 + CXL/ODCC 开放路线并行</a:t>
            </a:r>
          </a:p>
        </p:txBody>
      </p:sp>
      <p:pic>
        <p:nvPicPr>
          <p:cNvPr id="8" name="Picture 7" descr="img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255754"/>
            <a:ext cx="3108960" cy="16322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3961110"/>
            <a:ext cx="5623559" cy="320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899AA"/>
                </a:solidFill>
                <a:latin typeface="Microsoft YaHei"/>
                <a:ea typeface="Microsoft YaHei"/>
              </a:rPr>
              <a:t>🖼 官方配图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：NVIDIA GTC 2026——存储/NVLink/Data Center 主线 ——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nvidia.com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
</a:t>
            </a:r>
            <a:r>
              <a:rPr sz="850" b="1" i="0">
                <a:solidFill>
                  <a:srgbClr val="8899AA"/>
                </a:solidFill>
                <a:latin typeface="Microsoft YaHei"/>
                <a:ea typeface="Microsoft YaHei"/>
              </a:rPr>
              <a:t>含义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：Storage-Next 生态成员扩展与 CMX 软件栈更新需持续跟踪（GTC 2027 = 2027-03-15~18）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领导汇报版 §6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nvidia.com GTC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（curl 200）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07 · 三定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7.2</a:t>
            </a: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量化目标：2026H2 完成 MVP → 2027 规模化 → 2028 开放解构，</a:t>
            </a:r>
            <a:r>
              <a:rPr sz="2000" b="1" i="0">
                <a:solidFill>
                  <a:srgbClr val="4FC3F7"/>
                </a:solidFill>
                <a:latin typeface="Microsoft YaHei"/>
                <a:ea typeface="Microsoft YaHei"/>
              </a:rPr>
              <a:t>每阶段有可验证里程碑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15568"/>
          <a:ext cx="1124712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目标类别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2026H2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2027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2028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产品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G3.5 共享闪存层 MVP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69F0AE"/>
                          </a:solidFill>
                          <a:latin typeface="Microsoft YaHei"/>
                          <a:ea typeface="Microsoft YaHei"/>
                        </a:rPr>
                        <a:t>✅ 完成 P0 五条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规模化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开放解构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产品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KV 分层软件栈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与 SGLang/vLLM 集成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HiSparse 级成熟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自研调度器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产品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LPDDR 容量型 SKU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立项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样机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量产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可靠性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I/O 层监控覆盖率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FF5252"/>
                          </a:solidFill>
                          <a:latin typeface="Microsoft YaHei"/>
                          <a:ea typeface="Microsoft YaHei"/>
                        </a:rPr>
                        <a:t>100% 新品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存量改造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行业标准参与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市场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存储软件方案标杆客户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1-2 个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3-5 个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推理云 TOP10 进 3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标准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ODCC 标准参与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NHA 适配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主导 1 项标准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国际输出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领导汇报版 §7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（内部研发/销售/ODCC 口径）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PART 07 · 三定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7.3</a:t>
            </a: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落地路径 P0/P1/P2：</a:t>
            </a:r>
            <a:r>
              <a:rPr sz="1800" b="1" i="0">
                <a:solidFill>
                  <a:srgbClr val="FF5252"/>
                </a:solidFill>
                <a:latin typeface="Microsoft YaHei"/>
                <a:ea typeface="Microsoft YaHei"/>
              </a:rPr>
              <a:t>软件团队 5-8 人是关键资源约束</a:t>
            </a: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——先做「可用」再做「可信」最后「开放」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15568"/>
          <a:ext cx="1124712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时间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关键任务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里程碑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软件研发重点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P0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2026H2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G3.5 MVP：让共享层可用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512 GPU 超节点 KV 分层演示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R1 GPU-Initiated SSD + R9 KV 分层 + R13 QoS + R14 Prestaging + R5 DPU 卸载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P0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2026H2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KV 三场景机型定义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容量/吞吐/结构三型 SKU 规格书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场景感知 KV 放置策略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P0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2026H2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I/O 层监控落地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假存活识别告警上线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命令完成率/队列深度监控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P1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2027H1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G3.5 规模化 + 可靠性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P0 五条生产级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NHA 全息评估 + BMC Agent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P1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2027H1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CXL 软件栈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CXL 池化 QoS + 透明分层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memkind/CXL 感知分配器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P1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2027H1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LPDDR 容量型 SKU 样机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风冷容量型推理节点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KV 分层软件适配 LPDDR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P2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2027H2+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开放解构 + 全光 + Agent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ODS 兼容 + 3.2T NPO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统一编址 + 存储网络自动化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25112"/>
            <a:ext cx="11247120" cy="95308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资源需求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：软件团队（存储软件栈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5-8 人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：GDS/NVMe-oF/KV 分层各 2-3 人）+ 系统架构 1-2 人 + 测试 1-2 人（含故障注入 T14）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监控体系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：KV 卸载率 / 单位 token 存储成本 / 假存活漏报率 / G3.5 端到端时延（</a:t>
            </a:r>
            <a:r>
              <a:rPr sz="1200" b="0" i="0">
                <a:solidFill>
                  <a:srgbClr val="69F0AE"/>
                </a:solidFill>
                <a:latin typeface="Microsoft YaHei"/>
                <a:ea typeface="Microsoft YaHei"/>
              </a:rPr>
              <a:t>目标 &lt;200μs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✅来源：</a:t>
            </a:r>
            <a:r>
              <a:rPr sz="850" b="0" i="0">
                <a:solidFill>
                  <a:srgbClr val="4FC3F7"/>
                </a:solidFill>
                <a:latin typeface="Microsoft YaHei"/>
                <a:ea typeface="Microsoft YaHei"/>
              </a:rPr>
              <a:t>领导汇报版 §8</a:t>
            </a: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 · 三阶段路线（G3.5 规格专题 §12）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SUMMARY · 四维影响（铁律⑤）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结论与影响：存储范式转移对技术 / 产品 / 业务经营的影响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1247120" cy="129071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存储从「数据仓库」→「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AI 算力扩展内存」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：$803.9B 首超逻辑、KV Cache 成第一语义（多源印证）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最大增量机会 =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G3.5 共享闪存层 + KV 分层 + GPU 直通 I/O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（2026-2027 窗口）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软件能力取代硬件容量成为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整机差异化主战场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（P0 五条全是软件栈需求）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三路线并存分层，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整机差异化在中间层整合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——借 ODCC 标准与国产介质之力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行动抓手 =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软件三件套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（GPU-Initiated I/O / KV 分层调度 / 故障诊断）+ 场景化 SKU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6006"/>
            <a:ext cx="11247120" cy="130477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存储技术栈从「文件系统+RAID」→「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KV 语义+内存语义+网络卸载」三轨并行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CXL/NVMe-oF/GDS/GPU-Initiated 成必修课；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HBF 新介质入列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（2027 决策点）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技术储备五方向：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SPDK / GDS / CXL 池化 / 分布式 KV 存储 / GPU-Initiated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可靠性技术：I/O 层监控（完成率&lt;95%/10s）+ 功耗指纹分诊 + NHA 采集接口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KV 层 SSD 规格语言更新：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512B 小随机 IOPS + 有效 DWPD + FDP 流数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0512"/>
            <a:ext cx="11247120" cy="1308295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AI 服务器存储配置从「标准盘位」→「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按场景定制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」（KV 型/Checkpoint 型/混合型）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产品线定义：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G3.5 存储 SKU + Gen6 平台 + NHA 诊断固件 + 液冷 SSD 选项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定义 A/B/C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三场景推理机型 SKU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（容量/吞吐/结构驱动），内存层与计算层解耦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LPDDR 容量型 SKU 立项（Intel 160GB 实证 + 长鑫 LPDDR6 首发；host DRAM ≥ 8× GPU HBM）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BMC 存储诊断成为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差异化卖点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（假存活识别 + NHA 预告警）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48535"/>
            <a:ext cx="11247120" cy="122388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存储成本占比历史峰值（内存 BOM 29%、成本 5×）→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定价/毛利承压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，需 LTA 长协+多源策略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存储故障影响 SLA →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服务合同含诊断能力溢价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（诊断服务化，P2 变现）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国产替代政策红利：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存储 BOM 国产化率提升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（认证 2-3 家 → 规模化替代）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ODCC 主导评测标准（存算分离强制标准）→ </a:t>
            </a:r>
            <a:r>
              <a:rPr sz="1200" b="1" i="0">
                <a:solidFill>
                  <a:srgbClr val="D8E2F0"/>
                </a:solidFill>
                <a:latin typeface="Microsoft YaHei"/>
                <a:ea typeface="Microsoft YaHei"/>
              </a:rPr>
              <a:t>参与标准制定获先发优势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（加入存储焦点组）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监控指标：单位 token 存储成本 / KV 卸载率 / 假存活漏报率 / Gen6 导入率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✅全部结论基于五看三定框架 + 多源交叉验证 · 官方源清单见附注页 · 可证伪预测 P1-P10 零证伪、P11-P15 待 2027 核验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Microsoft YaHei"/>
                <a:ea typeface="Microsoft YaHei"/>
              </a:rPr>
              <a:t>APPENDIX · 参考文件与数据分级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附</a:t>
            </a: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</a:rPr>
              <a:t>数据可追溯：每页来源可查，关键量化数据经官方一手源 curl 验证 HTTP 200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.0" y="1115568"/>
          <a:ext cx="5623558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79"/>
                <a:gridCol w="281177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参考文档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FC3F7"/>
                          </a:solidFill>
                          <a:latin typeface="Microsoft YaHei"/>
                          <a:ea typeface="Microsoft YaHei"/>
                        </a:rPr>
                        <a:t>存储行业洞察领导汇报版 v1.2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FC3F7"/>
                          </a:solidFill>
                          <a:latin typeface="Microsoft YaHei"/>
                          <a:ea typeface="Microsoft YaHei"/>
                        </a:rPr>
                        <a:t>AI 存储洞察报告 v1.5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（官方数据源 15 条 URL + 8 张官方配图）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FC3F7"/>
                          </a:solidFill>
                          <a:latin typeface="Microsoft YaHei"/>
                          <a:ea typeface="Microsoft YaHei"/>
                        </a:rPr>
                        <a:t>G3.5 超节点存储需求规格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（14 条需求）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FC3F7"/>
                          </a:solidFill>
                          <a:latin typeface="Microsoft YaHei"/>
                          <a:ea typeface="Microsoft YaHei"/>
                        </a:rPr>
                        <a:t>KV Cache 三场景机型设计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FC3F7"/>
                          </a:solidFill>
                          <a:latin typeface="Microsoft YaHei"/>
                          <a:ea typeface="Microsoft YaHei"/>
                        </a:rPr>
                        <a:t>HiSparse 分层 KV Cache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FC3F7"/>
                          </a:solidFill>
                          <a:latin typeface="Microsoft YaHei"/>
                          <a:ea typeface="Microsoft YaHei"/>
                        </a:rPr>
                        <a:t>CPU 故障网络可靠性设计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（NCCL 假存活）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7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FC3F7"/>
                          </a:solidFill>
                          <a:latin typeface="Microsoft YaHei"/>
                          <a:ea typeface="Microsoft YaHei"/>
                        </a:rPr>
                        <a:t>FMS 复盘与预测核对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（P1-P10 + P11-P15）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4FC3F7"/>
                          </a:solidFill>
                          <a:latin typeface="Microsoft YaHei"/>
                          <a:ea typeface="Microsoft YaHei"/>
                        </a:rPr>
                        <a:t>容量型 SKU 五看三定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（国际/国内/总纲）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80760.125" y="1115568"/>
          <a:ext cx="5623558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79"/>
                <a:gridCol w="281177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数据分级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62E5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69F0AE"/>
                          </a:solidFill>
                          <a:latin typeface="Microsoft YaHei"/>
                          <a:ea typeface="Microsoft YaHei"/>
                        </a:rPr>
                        <a:t>✅ 官方一手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SK hynix / Samsung / Kioxia / NVIDIA / CXL 联盟 / WSTS 官网（curl 验证 200）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⚠️ 行业共识转引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TrendForce / DIGITIMES（付费墙，标题摘要为准）/ 广发证券研报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🔶 第一性推导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KV 公式 / 迁移成本 / 规格改写机制（标注依据）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🏷 厂商声称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Intel Crescent Island 160GB（英文稿）vs 128GB（中文稿）待确认；T50/CXL 4.0 规格为厂商公布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69F0AE"/>
                          </a:solidFill>
                          <a:latin typeface="Microsoft YaHei"/>
                          <a:ea typeface="Microsoft YaHei"/>
                        </a:rPr>
                        <a:t>✅ 独立第三方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StorageReview</a:t>
                      </a:r>
                      <a:r>
                        <a:rPr sz="1100" b="0" i="0">
                          <a:solidFill>
                            <a:srgbClr val="D8E2F0"/>
                          </a:solidFill>
                          <a:latin typeface="Microsoft YaHei"/>
                          <a:ea typeface="Microsoft YaHei"/>
                        </a:rPr>
                        <a:t> 评测实验室（KV offload 实测 13.9s→3.2s / 2.2×，RSS 源 curl 200）</a:t>
                      </a:r>
                    </a:p>
                  </a:txBody>
                  <a:tcPr marL="50800" marR="50800" marT="12700" marB="12700" anchor="ctr">
                    <a:solidFill>
                      <a:srgbClr val="12294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80760" y="3557016"/>
            <a:ext cx="5623559" cy="84406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字节实测 -87% 待内部复现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DIGITIMES 8/12 报道受付费墙限制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ODCC 官网直连超时（二手权威源交叉）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HBF 九大厂未加入，2027 商用存疑（P11 跟踪）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▸ </a:t>
            </a:r>
            <a:r>
              <a:rPr sz="1200" b="0" i="0">
                <a:solidFill>
                  <a:srgbClr val="D8E2F0"/>
                </a:solidFill>
                <a:latin typeface="Microsoft YaHei"/>
                <a:ea typeface="Microsoft YaHei"/>
              </a:rPr>
              <a:t>ODX 大会 9/2-4 北京 = 下一更新锚点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9AA"/>
                </a:solidFill>
                <a:latin typeface="Microsoft YaHei"/>
                <a:ea typeface="Microsoft YaHei"/>
              </a:rPr>
              <a:t>生成工具：web-ppt-builder skill v3.0 · 提交：3f57b8024 系列 · 全部配图 curl 验证 HTTP 200 · 领导汇报版 + 洞察报告已归档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